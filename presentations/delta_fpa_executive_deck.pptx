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Hi, I'm Shahriar Molhem, a finance student at the University of Georgia. In this project, I analyzed Delta Air Lines using publicly reported financial statements and operating statistics. My goal was to understand how passenger demand, airline capacity, fuel, and labor costs influence operating profitability. I then used a simplified Excel planning model to test hypothetical outcomes. This is an undergraduate case study—not Delta's internal budget or a professional forecast.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 organized my work around three questions. First, how did Delta's revenue and operating profit change across five years? Second, which reported cost categories contributed to the change in operating income from 2024 to 2025? Third, how might changes in capacity, passenger revenue per available seat mile, fuel prices, and unit costs affect a hypothetical future operating plan? I used public SEC filings for the historical facts, then labeled all future scenarios as independent assumptions.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first chart shows consolidated revenue and operating expenses between 2021 and 2025. Revenue increased from about 29.9 billion dollars in 2021 to 63.4 billion in 2025. However, I would be cautious with a straight five-year comparison because 2021 was heavily affected by the pandemic and Delta recognized government grant support as a reduction to operating expenses. For a more relevant operating discussion, I place extra emphasis on the 2024-to-2025 change.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Delta's operating revenue increased by about 2.8 percent in 2025, but GAAP operating income declined by 173 million dollars. Its operating margin decreased from 9.7 percent to 9.2 percent. This tells me that revenue growth alone isn't sufficient evidence of improved performance. In a real FP&amp;A role, I would want to understand whether the cost structure is changing faster than revenue, and which cost categories management should monitor most closely.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operating-profit bridge reconciles reported figures directly. We start with 5 billion, 995 million dollars in 2024 operating income. Passenger revenue contributed 874 million dollars of growth, cargo added 78 million, and other revenue increased by 769 million. On the cost side, higher salaries and related costs reduced operating income by 1 billion, 359 million. Lower fuel expenses added 747 million back, while other operating costs rose by 1 billion, 282 million. The bridge arrives at 5 billion, 822 million in 2025, exactly matching the 10-K. These are accounting contributions, not proof of the underlying causes.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Fuel is a major operating driver. In 2025 Delta's gallons consumed actually increased, from 4.114 billion to 4.269 billion gallons. But total fuel expense fell by 747 million dollars. I separated this change into a price effect and a volume effect using fuel expense divided by reported gallons, rather than the rounded price disclosed in the report. The lower implied cost per gallon more than offset increased fuel consumption. This decomposition is useful for planning, though it doesn't fully explain refinery, hedging, or market conditions.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After reviewing actual results, I built a three-year student planning scenario. Starting from 2025, the model separately forecasts available seat miles, passenger revenue per seat mile, cargo and other revenue, fuel gallons, fuel cost per gallon, and operating costs per available seat mile. For example, the 2026 assumptions include three percent capacity growth, half a percent growth in passenger yield, and three percent growth in unit labor costs. These are my hypothetical inputs. They're not management guidance, and I'm not claiming this reflects actual developments in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Under this particular set of assumptions, 2026 operating revenue reaches about 65.6 billion dollars, while projected operating income is approximately 5.26 billion, representing an 8.0 percent operating margin. Revenue continues growing in the later forecast years, but labor and other unit-cost inflation outpace passenger yield improvements, so the model's operating margin declines. This isn't a claim about Delta's actual financial outlook. It is a cost-pressure stress case showing why FP&amp;A should monitor revenue and unit economics together.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sensitivity analysis I changed two variables independently: passenger yield and fuel price. Holding all other assumptions constant, a ten percent increase in modeled fuel price reduces 2026 EBIT by roughly 1.01 billion dollars. A one percent improvement in passenger revenue per available seat mile adds approximately 536 million dollars of operating income. The point isn't that the company can simply increase ticket prices without consequences. In reality, demand, competition, and capacity responses matter. This is a what-if tool to make financial exposure visible.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My main takeaway is that airline profitability depends on the relationship between capacity, passenger yield, fuel costs, and other unit expenses. I used SEC data to build a reconciled operating-profit bridge and an Excel model with editable assumptions. I also learned to be careful about historical comparisons, particularly 2021 government support and Delta's refinery and other businesses. This analysis doesn't use internal budget data or estimate a current stock price. It demonstrates the operating and financial reasoning I want to build on in a finance or FP&amp;A internship.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DELTA AIR LINES  |  FP&amp;A CASE STUDY</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Independent undergraduate finance portfolio</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01</a:t>
            </a:r>
            <a:endParaRPr lang="en-US" sz="900" dirty="0"/>
          </a:p>
        </p:txBody>
      </p:sp>
      <p:sp>
        <p:nvSpPr>
          <p:cNvPr id="8" name="Text 6"/>
          <p:cNvSpPr/>
          <p:nvPr/>
        </p:nvSpPr>
        <p:spPr>
          <a:xfrm>
            <a:off x="640080" y="1344168"/>
            <a:ext cx="10058400" cy="640080"/>
          </a:xfrm>
          <a:prstGeom prst="rect">
            <a:avLst/>
          </a:prstGeom>
          <a:noFill/>
          <a:ln/>
        </p:spPr>
        <p:txBody>
          <a:bodyPr wrap="square" lIns="0" tIns="0" rIns="0" bIns="0" rtlCol="0" anchor="ctr">
            <a:normAutofit/>
          </a:bodyPr>
          <a:lstStyle/>
          <a:p>
            <a:pPr indent="0" marL="0">
              <a:buNone/>
            </a:pPr>
            <a:r>
              <a:rPr lang="en-US" sz="3600" b="1" dirty="0">
                <a:solidFill>
                  <a:srgbClr val="142B46"/>
                </a:solidFill>
                <a:latin typeface="Aptos" pitchFamily="34" charset="0"/>
                <a:ea typeface="Aptos" pitchFamily="34" charset="-122"/>
                <a:cs typeface="Aptos" pitchFamily="34" charset="-120"/>
              </a:rPr>
              <a:t>Revenue, Cost &amp;</a:t>
            </a:r>
            <a:endParaRPr lang="en-US" sz="3600" dirty="0"/>
          </a:p>
        </p:txBody>
      </p:sp>
      <p:sp>
        <p:nvSpPr>
          <p:cNvPr id="9" name="Text 7"/>
          <p:cNvSpPr/>
          <p:nvPr/>
        </p:nvSpPr>
        <p:spPr>
          <a:xfrm>
            <a:off x="640080" y="1984248"/>
            <a:ext cx="10058400" cy="640080"/>
          </a:xfrm>
          <a:prstGeom prst="rect">
            <a:avLst/>
          </a:prstGeom>
          <a:noFill/>
          <a:ln/>
        </p:spPr>
        <p:txBody>
          <a:bodyPr wrap="square" lIns="0" tIns="0" rIns="0" bIns="0" rtlCol="0" anchor="ctr">
            <a:normAutofit/>
          </a:bodyPr>
          <a:lstStyle/>
          <a:p>
            <a:pPr indent="0" marL="0">
              <a:buNone/>
            </a:pPr>
            <a:r>
              <a:rPr lang="en-US" sz="3300" b="1" dirty="0">
                <a:solidFill>
                  <a:srgbClr val="142B46"/>
                </a:solidFill>
                <a:latin typeface="Aptos" pitchFamily="34" charset="0"/>
                <a:ea typeface="Aptos" pitchFamily="34" charset="-122"/>
                <a:cs typeface="Aptos" pitchFamily="34" charset="-120"/>
              </a:rPr>
              <a:t>Operating Margin Forecasting</a:t>
            </a:r>
            <a:endParaRPr lang="en-US" sz="3300" dirty="0"/>
          </a:p>
        </p:txBody>
      </p:sp>
      <p:sp>
        <p:nvSpPr>
          <p:cNvPr id="10" name="Shape 8"/>
          <p:cNvSpPr/>
          <p:nvPr/>
        </p:nvSpPr>
        <p:spPr>
          <a:xfrm>
            <a:off x="640080" y="2889504"/>
            <a:ext cx="1828800" cy="91440"/>
          </a:xfrm>
          <a:prstGeom prst="rect">
            <a:avLst/>
          </a:prstGeom>
          <a:solidFill>
            <a:srgbClr val="C51F36"/>
          </a:solidFill>
          <a:ln w="12700">
            <a:solidFill>
              <a:srgbClr val="C51F36">
                <a:alpha val="0"/>
              </a:srgbClr>
            </a:solidFill>
            <a:prstDash val="solid"/>
          </a:ln>
        </p:spPr>
      </p:sp>
      <p:sp>
        <p:nvSpPr>
          <p:cNvPr id="11" name="Text 9"/>
          <p:cNvSpPr/>
          <p:nvPr/>
        </p:nvSpPr>
        <p:spPr>
          <a:xfrm>
            <a:off x="658368" y="3163824"/>
            <a:ext cx="10058400" cy="365760"/>
          </a:xfrm>
          <a:prstGeom prst="rect">
            <a:avLst/>
          </a:prstGeom>
          <a:noFill/>
          <a:ln/>
        </p:spPr>
        <p:txBody>
          <a:bodyPr wrap="square" lIns="0" tIns="0" rIns="0" bIns="0" rtlCol="0" anchor="ctr">
            <a:normAutofit/>
          </a:bodyPr>
          <a:lstStyle/>
          <a:p>
            <a:pPr indent="0" marL="0">
              <a:buNone/>
            </a:pPr>
            <a:r>
              <a:rPr lang="en-US" sz="1800" dirty="0">
                <a:solidFill>
                  <a:srgbClr val="52687C"/>
                </a:solidFill>
                <a:latin typeface="Aptos" pitchFamily="34" charset="0"/>
                <a:ea typeface="Aptos" pitchFamily="34" charset="-122"/>
                <a:cs typeface="Aptos" pitchFamily="34" charset="-120"/>
              </a:rPr>
              <a:t>FY2021–FY2025 reported actuals  ·  FY2026–FY2028 illustrative scenarios</a:t>
            </a:r>
            <a:endParaRPr lang="en-US" sz="1800" dirty="0"/>
          </a:p>
        </p:txBody>
      </p:sp>
      <p:sp>
        <p:nvSpPr>
          <p:cNvPr id="12" name="Shape 10"/>
          <p:cNvSpPr/>
          <p:nvPr/>
        </p:nvSpPr>
        <p:spPr>
          <a:xfrm>
            <a:off x="658368" y="4023360"/>
            <a:ext cx="7040880" cy="1234440"/>
          </a:xfrm>
          <a:prstGeom prst="roundRect">
            <a:avLst/>
          </a:prstGeom>
          <a:solidFill>
            <a:srgbClr val="EEF3F8"/>
          </a:solidFill>
          <a:ln w="12700">
            <a:solidFill>
              <a:srgbClr val="EEF3F8">
                <a:alpha val="0"/>
              </a:srgbClr>
            </a:solidFill>
            <a:prstDash val="solid"/>
          </a:ln>
        </p:spPr>
      </p:sp>
      <p:sp>
        <p:nvSpPr>
          <p:cNvPr id="13" name="Shape 11"/>
          <p:cNvSpPr/>
          <p:nvPr/>
        </p:nvSpPr>
        <p:spPr>
          <a:xfrm>
            <a:off x="658368" y="4023360"/>
            <a:ext cx="77724" cy="1234440"/>
          </a:xfrm>
          <a:prstGeom prst="rect">
            <a:avLst/>
          </a:prstGeom>
          <a:solidFill>
            <a:srgbClr val="142B46"/>
          </a:solidFill>
          <a:ln w="12700">
            <a:solidFill>
              <a:srgbClr val="142B46">
                <a:alpha val="0"/>
              </a:srgbClr>
            </a:solidFill>
            <a:prstDash val="solid"/>
          </a:ln>
        </p:spPr>
      </p:sp>
      <p:sp>
        <p:nvSpPr>
          <p:cNvPr id="14" name="Text 12"/>
          <p:cNvSpPr/>
          <p:nvPr/>
        </p:nvSpPr>
        <p:spPr>
          <a:xfrm>
            <a:off x="859536" y="4206240"/>
            <a:ext cx="6693408"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Shahriar Molhem</a:t>
            </a:r>
            <a:endParaRPr lang="en-US" sz="1800" dirty="0"/>
          </a:p>
        </p:txBody>
      </p:sp>
      <p:sp>
        <p:nvSpPr>
          <p:cNvPr id="15" name="Text 13"/>
          <p:cNvSpPr/>
          <p:nvPr/>
        </p:nvSpPr>
        <p:spPr>
          <a:xfrm>
            <a:off x="859536" y="4572000"/>
            <a:ext cx="6647688" cy="521208"/>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BBA Finance Student  |  University of Georgia</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Source: publicly filed SEC financial statements</a:t>
            </a:r>
            <a:endParaRPr lang="en-US" sz="1400" dirty="0"/>
          </a:p>
        </p:txBody>
      </p:sp>
      <p:sp>
        <p:nvSpPr>
          <p:cNvPr id="16" name="Shape 14"/>
          <p:cNvSpPr/>
          <p:nvPr/>
        </p:nvSpPr>
        <p:spPr>
          <a:xfrm>
            <a:off x="8869680" y="1828800"/>
            <a:ext cx="2331720" cy="2331720"/>
          </a:xfrm>
          <a:prstGeom prst="chevron">
            <a:avLst/>
          </a:prstGeom>
          <a:solidFill>
            <a:srgbClr val="C51F36"/>
          </a:solidFill>
          <a:ln w="12700">
            <a:solidFill>
              <a:srgbClr val="C51F36">
                <a:alpha val="0"/>
              </a:srgbClr>
            </a:solidFill>
            <a:prstDash val="solid"/>
          </a:ln>
        </p:spPr>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Three Questions for an FP&amp;A Analyst</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Research objective</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02</a:t>
            </a:r>
            <a:endParaRPr lang="en-US" sz="900" dirty="0"/>
          </a:p>
        </p:txBody>
      </p:sp>
      <p:sp>
        <p:nvSpPr>
          <p:cNvPr id="8" name="Shape 6"/>
          <p:cNvSpPr/>
          <p:nvPr/>
        </p:nvSpPr>
        <p:spPr>
          <a:xfrm>
            <a:off x="621792" y="1243584"/>
            <a:ext cx="10972800" cy="1261872"/>
          </a:xfrm>
          <a:prstGeom prst="roundRect">
            <a:avLst/>
          </a:prstGeom>
          <a:solidFill>
            <a:srgbClr val="EEF3F8"/>
          </a:solidFill>
          <a:ln w="12700">
            <a:solidFill>
              <a:srgbClr val="EEF3F8">
                <a:alpha val="0"/>
              </a:srgbClr>
            </a:solidFill>
            <a:prstDash val="solid"/>
          </a:ln>
        </p:spPr>
      </p:sp>
      <p:sp>
        <p:nvSpPr>
          <p:cNvPr id="9" name="Shape 7"/>
          <p:cNvSpPr/>
          <p:nvPr/>
        </p:nvSpPr>
        <p:spPr>
          <a:xfrm>
            <a:off x="621792" y="1243584"/>
            <a:ext cx="77724" cy="1261872"/>
          </a:xfrm>
          <a:prstGeom prst="rect">
            <a:avLst/>
          </a:prstGeom>
          <a:solidFill>
            <a:srgbClr val="142B46"/>
          </a:solidFill>
          <a:ln w="12700">
            <a:solidFill>
              <a:srgbClr val="142B46">
                <a:alpha val="0"/>
              </a:srgbClr>
            </a:solidFill>
            <a:prstDash val="solid"/>
          </a:ln>
        </p:spPr>
      </p:sp>
      <p:sp>
        <p:nvSpPr>
          <p:cNvPr id="10" name="Text 8"/>
          <p:cNvSpPr/>
          <p:nvPr/>
        </p:nvSpPr>
        <p:spPr>
          <a:xfrm>
            <a:off x="822960" y="1426464"/>
            <a:ext cx="10625328"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01  PERFORMANCE</a:t>
            </a:r>
            <a:endParaRPr lang="en-US" sz="1800" dirty="0"/>
          </a:p>
        </p:txBody>
      </p:sp>
      <p:sp>
        <p:nvSpPr>
          <p:cNvPr id="11" name="Text 9"/>
          <p:cNvSpPr/>
          <p:nvPr/>
        </p:nvSpPr>
        <p:spPr>
          <a:xfrm>
            <a:off x="822960" y="1792224"/>
            <a:ext cx="10579608" cy="548640"/>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What changed in revenue, GAAP costs, and operating profit from 2021 to 2025?</a:t>
            </a:r>
            <a:endParaRPr lang="en-US" sz="1400" dirty="0"/>
          </a:p>
        </p:txBody>
      </p:sp>
      <p:sp>
        <p:nvSpPr>
          <p:cNvPr id="12" name="Shape 10"/>
          <p:cNvSpPr/>
          <p:nvPr/>
        </p:nvSpPr>
        <p:spPr>
          <a:xfrm>
            <a:off x="621792" y="2697480"/>
            <a:ext cx="10972800" cy="1261872"/>
          </a:xfrm>
          <a:prstGeom prst="roundRect">
            <a:avLst/>
          </a:prstGeom>
          <a:solidFill>
            <a:srgbClr val="EEF3F8"/>
          </a:solidFill>
          <a:ln w="12700">
            <a:solidFill>
              <a:srgbClr val="EEF3F8">
                <a:alpha val="0"/>
              </a:srgbClr>
            </a:solidFill>
            <a:prstDash val="solid"/>
          </a:ln>
        </p:spPr>
      </p:sp>
      <p:sp>
        <p:nvSpPr>
          <p:cNvPr id="13" name="Shape 11"/>
          <p:cNvSpPr/>
          <p:nvPr/>
        </p:nvSpPr>
        <p:spPr>
          <a:xfrm>
            <a:off x="621792" y="2697480"/>
            <a:ext cx="77724" cy="1261872"/>
          </a:xfrm>
          <a:prstGeom prst="rect">
            <a:avLst/>
          </a:prstGeom>
          <a:solidFill>
            <a:srgbClr val="245079"/>
          </a:solidFill>
          <a:ln w="12700">
            <a:solidFill>
              <a:srgbClr val="245079">
                <a:alpha val="0"/>
              </a:srgbClr>
            </a:solidFill>
            <a:prstDash val="solid"/>
          </a:ln>
        </p:spPr>
      </p:sp>
      <p:sp>
        <p:nvSpPr>
          <p:cNvPr id="14" name="Text 12"/>
          <p:cNvSpPr/>
          <p:nvPr/>
        </p:nvSpPr>
        <p:spPr>
          <a:xfrm>
            <a:off x="822960" y="2880360"/>
            <a:ext cx="10625328" cy="301752"/>
          </a:xfrm>
          <a:prstGeom prst="rect">
            <a:avLst/>
          </a:prstGeom>
          <a:noFill/>
          <a:ln/>
        </p:spPr>
        <p:txBody>
          <a:bodyPr wrap="square" lIns="0" tIns="0" rIns="0" bIns="0" rtlCol="0" anchor="ctr">
            <a:normAutofit/>
          </a:bodyPr>
          <a:lstStyle/>
          <a:p>
            <a:pPr indent="0" marL="0">
              <a:buNone/>
            </a:pPr>
            <a:r>
              <a:rPr lang="en-US" sz="1800" b="1" dirty="0">
                <a:solidFill>
                  <a:srgbClr val="245079"/>
                </a:solidFill>
                <a:latin typeface="Aptos" pitchFamily="34" charset="0"/>
                <a:ea typeface="Aptos" pitchFamily="34" charset="-122"/>
                <a:cs typeface="Aptos" pitchFamily="34" charset="-120"/>
              </a:rPr>
              <a:t>02  DRIVERS</a:t>
            </a:r>
            <a:endParaRPr lang="en-US" sz="1800" dirty="0"/>
          </a:p>
        </p:txBody>
      </p:sp>
      <p:sp>
        <p:nvSpPr>
          <p:cNvPr id="15" name="Text 13"/>
          <p:cNvSpPr/>
          <p:nvPr/>
        </p:nvSpPr>
        <p:spPr>
          <a:xfrm>
            <a:off x="822960" y="3246120"/>
            <a:ext cx="10579608" cy="548640"/>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Which reported revenue and expense line items explain the 2024 to 2025 EBIT bridge?</a:t>
            </a:r>
            <a:endParaRPr lang="en-US" sz="1400" dirty="0"/>
          </a:p>
        </p:txBody>
      </p:sp>
      <p:sp>
        <p:nvSpPr>
          <p:cNvPr id="16" name="Shape 14"/>
          <p:cNvSpPr/>
          <p:nvPr/>
        </p:nvSpPr>
        <p:spPr>
          <a:xfrm>
            <a:off x="621792" y="4151376"/>
            <a:ext cx="10972800" cy="1261872"/>
          </a:xfrm>
          <a:prstGeom prst="roundRect">
            <a:avLst/>
          </a:prstGeom>
          <a:solidFill>
            <a:srgbClr val="EEF3F8"/>
          </a:solidFill>
          <a:ln w="12700">
            <a:solidFill>
              <a:srgbClr val="EEF3F8">
                <a:alpha val="0"/>
              </a:srgbClr>
            </a:solidFill>
            <a:prstDash val="solid"/>
          </a:ln>
        </p:spPr>
      </p:sp>
      <p:sp>
        <p:nvSpPr>
          <p:cNvPr id="17" name="Shape 15"/>
          <p:cNvSpPr/>
          <p:nvPr/>
        </p:nvSpPr>
        <p:spPr>
          <a:xfrm>
            <a:off x="621792" y="4151376"/>
            <a:ext cx="77724" cy="1261872"/>
          </a:xfrm>
          <a:prstGeom prst="rect">
            <a:avLst/>
          </a:prstGeom>
          <a:solidFill>
            <a:srgbClr val="C51F36"/>
          </a:solidFill>
          <a:ln w="12700">
            <a:solidFill>
              <a:srgbClr val="C51F36">
                <a:alpha val="0"/>
              </a:srgbClr>
            </a:solidFill>
            <a:prstDash val="solid"/>
          </a:ln>
        </p:spPr>
      </p:sp>
      <p:sp>
        <p:nvSpPr>
          <p:cNvPr id="18" name="Text 16"/>
          <p:cNvSpPr/>
          <p:nvPr/>
        </p:nvSpPr>
        <p:spPr>
          <a:xfrm>
            <a:off x="822960" y="4334256"/>
            <a:ext cx="10625328" cy="301752"/>
          </a:xfrm>
          <a:prstGeom prst="rect">
            <a:avLst/>
          </a:prstGeom>
          <a:noFill/>
          <a:ln/>
        </p:spPr>
        <p:txBody>
          <a:bodyPr wrap="square" lIns="0" tIns="0" rIns="0" bIns="0" rtlCol="0" anchor="ctr">
            <a:normAutofit/>
          </a:bodyPr>
          <a:lstStyle/>
          <a:p>
            <a:pPr indent="0" marL="0">
              <a:buNone/>
            </a:pPr>
            <a:r>
              <a:rPr lang="en-US" sz="1800" b="1" dirty="0">
                <a:solidFill>
                  <a:srgbClr val="C51F36"/>
                </a:solidFill>
                <a:latin typeface="Aptos" pitchFamily="34" charset="0"/>
                <a:ea typeface="Aptos" pitchFamily="34" charset="-122"/>
                <a:cs typeface="Aptos" pitchFamily="34" charset="-120"/>
              </a:rPr>
              <a:t>03  SCENARIOS</a:t>
            </a:r>
            <a:endParaRPr lang="en-US" sz="1800" dirty="0"/>
          </a:p>
        </p:txBody>
      </p:sp>
      <p:sp>
        <p:nvSpPr>
          <p:cNvPr id="19" name="Text 17"/>
          <p:cNvSpPr/>
          <p:nvPr/>
        </p:nvSpPr>
        <p:spPr>
          <a:xfrm>
            <a:off x="822960" y="4700016"/>
            <a:ext cx="10579608" cy="548640"/>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How could capacity, passenger yield, fuel price, and unit costs change illustrative 2026–2028 EBIT?</a:t>
            </a:r>
            <a:endParaRPr lang="en-US" sz="1400" dirty="0"/>
          </a:p>
        </p:txBody>
      </p:sp>
      <p:sp>
        <p:nvSpPr>
          <p:cNvPr id="20" name="Text 18"/>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Actuals: SEC 10-Ks  |  Forecasts: independent student assumptions, not Delta guidance</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Five Years of Reported Financial Performance</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SEC GAAP actuals  ·  USD billions</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03</a:t>
            </a:r>
            <a:endParaRPr lang="en-US" sz="900" dirty="0"/>
          </a:p>
        </p:txBody>
      </p:sp>
      <p:pic>
        <p:nvPicPr>
          <p:cNvPr id="8" name="Image 0" descr="/mnt/data/delta-air-lines-fpa-forecasting/charts/revenue_expenses.png">    </p:cNvPr>
          <p:cNvPicPr>
            <a:picLocks noChangeAspect="1"/>
          </p:cNvPicPr>
          <p:nvPr/>
        </p:nvPicPr>
        <p:blipFill>
          <a:blip r:embed="rId1"/>
          <a:stretch>
            <a:fillRect/>
          </a:stretch>
        </p:blipFill>
        <p:spPr>
          <a:xfrm>
            <a:off x="603504" y="1051560"/>
            <a:ext cx="8366760" cy="4251960"/>
          </a:xfrm>
          <a:prstGeom prst="rect">
            <a:avLst/>
          </a:prstGeom>
        </p:spPr>
      </p:pic>
      <p:sp>
        <p:nvSpPr>
          <p:cNvPr id="9" name="Shape 6"/>
          <p:cNvSpPr/>
          <p:nvPr/>
        </p:nvSpPr>
        <p:spPr>
          <a:xfrm>
            <a:off x="9098280" y="1371600"/>
            <a:ext cx="2423160" cy="1481328"/>
          </a:xfrm>
          <a:prstGeom prst="roundRect">
            <a:avLst/>
          </a:prstGeom>
          <a:solidFill>
            <a:srgbClr val="EEF3F8"/>
          </a:solidFill>
          <a:ln w="12700">
            <a:solidFill>
              <a:srgbClr val="EEF3F8">
                <a:alpha val="0"/>
              </a:srgbClr>
            </a:solidFill>
            <a:prstDash val="solid"/>
          </a:ln>
        </p:spPr>
      </p:sp>
      <p:sp>
        <p:nvSpPr>
          <p:cNvPr id="10" name="Shape 7"/>
          <p:cNvSpPr/>
          <p:nvPr/>
        </p:nvSpPr>
        <p:spPr>
          <a:xfrm>
            <a:off x="9098280" y="1371600"/>
            <a:ext cx="77724" cy="1481328"/>
          </a:xfrm>
          <a:prstGeom prst="rect">
            <a:avLst/>
          </a:prstGeom>
          <a:solidFill>
            <a:srgbClr val="142B46"/>
          </a:solidFill>
          <a:ln w="12700">
            <a:solidFill>
              <a:srgbClr val="142B46">
                <a:alpha val="0"/>
              </a:srgbClr>
            </a:solidFill>
            <a:prstDash val="solid"/>
          </a:ln>
        </p:spPr>
      </p:sp>
      <p:sp>
        <p:nvSpPr>
          <p:cNvPr id="11" name="Text 8"/>
          <p:cNvSpPr/>
          <p:nvPr/>
        </p:nvSpPr>
        <p:spPr>
          <a:xfrm>
            <a:off x="9299448" y="1554480"/>
            <a:ext cx="2075688"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2025 REVENUE</a:t>
            </a:r>
            <a:endParaRPr lang="en-US" sz="1800" dirty="0"/>
          </a:p>
        </p:txBody>
      </p:sp>
      <p:sp>
        <p:nvSpPr>
          <p:cNvPr id="12" name="Text 9"/>
          <p:cNvSpPr/>
          <p:nvPr/>
        </p:nvSpPr>
        <p:spPr>
          <a:xfrm>
            <a:off x="9299448" y="1920240"/>
            <a:ext cx="2029968" cy="768096"/>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$63.36B</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FY2021: $29.90B</a:t>
            </a:r>
            <a:endParaRPr lang="en-US" sz="1400" dirty="0"/>
          </a:p>
        </p:txBody>
      </p:sp>
      <p:sp>
        <p:nvSpPr>
          <p:cNvPr id="13" name="Shape 10"/>
          <p:cNvSpPr/>
          <p:nvPr/>
        </p:nvSpPr>
        <p:spPr>
          <a:xfrm>
            <a:off x="9098280" y="3127248"/>
            <a:ext cx="2423160" cy="1481328"/>
          </a:xfrm>
          <a:prstGeom prst="roundRect">
            <a:avLst/>
          </a:prstGeom>
          <a:solidFill>
            <a:srgbClr val="EEF3F8"/>
          </a:solidFill>
          <a:ln w="12700">
            <a:solidFill>
              <a:srgbClr val="EEF3F8">
                <a:alpha val="0"/>
              </a:srgbClr>
            </a:solidFill>
            <a:prstDash val="solid"/>
          </a:ln>
        </p:spPr>
      </p:sp>
      <p:sp>
        <p:nvSpPr>
          <p:cNvPr id="14" name="Shape 11"/>
          <p:cNvSpPr/>
          <p:nvPr/>
        </p:nvSpPr>
        <p:spPr>
          <a:xfrm>
            <a:off x="9098280" y="3127248"/>
            <a:ext cx="77724" cy="1481328"/>
          </a:xfrm>
          <a:prstGeom prst="rect">
            <a:avLst/>
          </a:prstGeom>
          <a:solidFill>
            <a:srgbClr val="C51F36"/>
          </a:solidFill>
          <a:ln w="12700">
            <a:solidFill>
              <a:srgbClr val="C51F36">
                <a:alpha val="0"/>
              </a:srgbClr>
            </a:solidFill>
            <a:prstDash val="solid"/>
          </a:ln>
        </p:spPr>
      </p:sp>
      <p:sp>
        <p:nvSpPr>
          <p:cNvPr id="15" name="Text 12"/>
          <p:cNvSpPr/>
          <p:nvPr/>
        </p:nvSpPr>
        <p:spPr>
          <a:xfrm>
            <a:off x="9299448" y="3310128"/>
            <a:ext cx="2075688" cy="301752"/>
          </a:xfrm>
          <a:prstGeom prst="rect">
            <a:avLst/>
          </a:prstGeom>
          <a:noFill/>
          <a:ln/>
        </p:spPr>
        <p:txBody>
          <a:bodyPr wrap="square" lIns="0" tIns="0" rIns="0" bIns="0" rtlCol="0" anchor="ctr">
            <a:normAutofit/>
          </a:bodyPr>
          <a:lstStyle/>
          <a:p>
            <a:pPr indent="0" marL="0">
              <a:buNone/>
            </a:pPr>
            <a:r>
              <a:rPr lang="en-US" sz="1800" b="1" dirty="0">
                <a:solidFill>
                  <a:srgbClr val="C51F36"/>
                </a:solidFill>
                <a:latin typeface="Aptos" pitchFamily="34" charset="0"/>
                <a:ea typeface="Aptos" pitchFamily="34" charset="-122"/>
                <a:cs typeface="Aptos" pitchFamily="34" charset="-120"/>
              </a:rPr>
              <a:t>2025 EXPENSES</a:t>
            </a:r>
            <a:endParaRPr lang="en-US" sz="1800" dirty="0"/>
          </a:p>
        </p:txBody>
      </p:sp>
      <p:sp>
        <p:nvSpPr>
          <p:cNvPr id="16" name="Text 13"/>
          <p:cNvSpPr/>
          <p:nvPr/>
        </p:nvSpPr>
        <p:spPr>
          <a:xfrm>
            <a:off x="9299448" y="3675888"/>
            <a:ext cx="2029968" cy="768096"/>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$57.54B</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FY2021: $28.01B</a:t>
            </a:r>
            <a:endParaRPr lang="en-US" sz="1400" dirty="0"/>
          </a:p>
        </p:txBody>
      </p:sp>
      <p:sp>
        <p:nvSpPr>
          <p:cNvPr id="17" name="Text 14"/>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Source: Delta FY2023 10-K p.59 and FY2025 10-K p.56; 2021 includes pandemic-era government grant credits</a:t>
            </a:r>
            <a:endParaRPr lang="en-US" sz="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Revenue Increased; Operating Margin Softened</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Comparative GAAP margins</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04</a:t>
            </a:r>
            <a:endParaRPr lang="en-US" sz="900" dirty="0"/>
          </a:p>
        </p:txBody>
      </p:sp>
      <p:pic>
        <p:nvPicPr>
          <p:cNvPr id="8" name="Image 0" descr="/mnt/data/delta-air-lines-fpa-forecasting/charts/operating_margins.png">    </p:cNvPr>
          <p:cNvPicPr>
            <a:picLocks noChangeAspect="1"/>
          </p:cNvPicPr>
          <p:nvPr/>
        </p:nvPicPr>
        <p:blipFill>
          <a:blip r:embed="rId1"/>
          <a:stretch>
            <a:fillRect/>
          </a:stretch>
        </p:blipFill>
        <p:spPr>
          <a:xfrm>
            <a:off x="594360" y="1060704"/>
            <a:ext cx="8229600" cy="4251960"/>
          </a:xfrm>
          <a:prstGeom prst="rect">
            <a:avLst/>
          </a:prstGeom>
        </p:spPr>
      </p:pic>
      <p:sp>
        <p:nvSpPr>
          <p:cNvPr id="9" name="Shape 6"/>
          <p:cNvSpPr/>
          <p:nvPr/>
        </p:nvSpPr>
        <p:spPr>
          <a:xfrm>
            <a:off x="9006840" y="1371600"/>
            <a:ext cx="2468880" cy="1508760"/>
          </a:xfrm>
          <a:prstGeom prst="roundRect">
            <a:avLst/>
          </a:prstGeom>
          <a:solidFill>
            <a:srgbClr val="EEF3F8"/>
          </a:solidFill>
          <a:ln w="12700">
            <a:solidFill>
              <a:srgbClr val="EEF3F8">
                <a:alpha val="0"/>
              </a:srgbClr>
            </a:solidFill>
            <a:prstDash val="solid"/>
          </a:ln>
        </p:spPr>
      </p:sp>
      <p:sp>
        <p:nvSpPr>
          <p:cNvPr id="10" name="Shape 7"/>
          <p:cNvSpPr/>
          <p:nvPr/>
        </p:nvSpPr>
        <p:spPr>
          <a:xfrm>
            <a:off x="9006840" y="1371600"/>
            <a:ext cx="77724" cy="1508760"/>
          </a:xfrm>
          <a:prstGeom prst="rect">
            <a:avLst/>
          </a:prstGeom>
          <a:solidFill>
            <a:srgbClr val="142B46"/>
          </a:solidFill>
          <a:ln w="12700">
            <a:solidFill>
              <a:srgbClr val="142B46">
                <a:alpha val="0"/>
              </a:srgbClr>
            </a:solidFill>
            <a:prstDash val="solid"/>
          </a:ln>
        </p:spPr>
      </p:sp>
      <p:sp>
        <p:nvSpPr>
          <p:cNvPr id="11" name="Text 8"/>
          <p:cNvSpPr/>
          <p:nvPr/>
        </p:nvSpPr>
        <p:spPr>
          <a:xfrm>
            <a:off x="9208008" y="1554480"/>
            <a:ext cx="2121408"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2024 MARGIN</a:t>
            </a:r>
            <a:endParaRPr lang="en-US" sz="1800" dirty="0"/>
          </a:p>
        </p:txBody>
      </p:sp>
      <p:sp>
        <p:nvSpPr>
          <p:cNvPr id="12" name="Text 9"/>
          <p:cNvSpPr/>
          <p:nvPr/>
        </p:nvSpPr>
        <p:spPr>
          <a:xfrm>
            <a:off x="9208008" y="1920240"/>
            <a:ext cx="2075688" cy="795528"/>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9.73%</a:t>
            </a:r>
            <a:endParaRPr lang="en-US" sz="1400" dirty="0"/>
          </a:p>
        </p:txBody>
      </p:sp>
      <p:sp>
        <p:nvSpPr>
          <p:cNvPr id="13" name="Shape 10"/>
          <p:cNvSpPr/>
          <p:nvPr/>
        </p:nvSpPr>
        <p:spPr>
          <a:xfrm>
            <a:off x="9006840" y="3182112"/>
            <a:ext cx="2468880" cy="1508760"/>
          </a:xfrm>
          <a:prstGeom prst="roundRect">
            <a:avLst/>
          </a:prstGeom>
          <a:solidFill>
            <a:srgbClr val="EEF3F8"/>
          </a:solidFill>
          <a:ln w="12700">
            <a:solidFill>
              <a:srgbClr val="EEF3F8">
                <a:alpha val="0"/>
              </a:srgbClr>
            </a:solidFill>
            <a:prstDash val="solid"/>
          </a:ln>
        </p:spPr>
      </p:sp>
      <p:sp>
        <p:nvSpPr>
          <p:cNvPr id="14" name="Shape 11"/>
          <p:cNvSpPr/>
          <p:nvPr/>
        </p:nvSpPr>
        <p:spPr>
          <a:xfrm>
            <a:off x="9006840" y="3182112"/>
            <a:ext cx="77724" cy="1508760"/>
          </a:xfrm>
          <a:prstGeom prst="rect">
            <a:avLst/>
          </a:prstGeom>
          <a:solidFill>
            <a:srgbClr val="C51F36"/>
          </a:solidFill>
          <a:ln w="12700">
            <a:solidFill>
              <a:srgbClr val="C51F36">
                <a:alpha val="0"/>
              </a:srgbClr>
            </a:solidFill>
            <a:prstDash val="solid"/>
          </a:ln>
        </p:spPr>
      </p:sp>
      <p:sp>
        <p:nvSpPr>
          <p:cNvPr id="15" name="Text 12"/>
          <p:cNvSpPr/>
          <p:nvPr/>
        </p:nvSpPr>
        <p:spPr>
          <a:xfrm>
            <a:off x="9208008" y="3364992"/>
            <a:ext cx="2121408" cy="301752"/>
          </a:xfrm>
          <a:prstGeom prst="rect">
            <a:avLst/>
          </a:prstGeom>
          <a:noFill/>
          <a:ln/>
        </p:spPr>
        <p:txBody>
          <a:bodyPr wrap="square" lIns="0" tIns="0" rIns="0" bIns="0" rtlCol="0" anchor="ctr">
            <a:normAutofit/>
          </a:bodyPr>
          <a:lstStyle/>
          <a:p>
            <a:pPr indent="0" marL="0">
              <a:buNone/>
            </a:pPr>
            <a:r>
              <a:rPr lang="en-US" sz="1800" b="1" dirty="0">
                <a:solidFill>
                  <a:srgbClr val="C51F36"/>
                </a:solidFill>
                <a:latin typeface="Aptos" pitchFamily="34" charset="0"/>
                <a:ea typeface="Aptos" pitchFamily="34" charset="-122"/>
                <a:cs typeface="Aptos" pitchFamily="34" charset="-120"/>
              </a:rPr>
              <a:t>2025 MARGIN</a:t>
            </a:r>
            <a:endParaRPr lang="en-US" sz="1800" dirty="0"/>
          </a:p>
        </p:txBody>
      </p:sp>
      <p:sp>
        <p:nvSpPr>
          <p:cNvPr id="16" name="Text 13"/>
          <p:cNvSpPr/>
          <p:nvPr/>
        </p:nvSpPr>
        <p:spPr>
          <a:xfrm>
            <a:off x="9208008" y="3730752"/>
            <a:ext cx="2075688" cy="795528"/>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9.19%</a:t>
            </a:r>
            <a:endParaRPr lang="en-US" sz="1400" dirty="0"/>
          </a:p>
        </p:txBody>
      </p:sp>
      <p:sp>
        <p:nvSpPr>
          <p:cNvPr id="17" name="Text 14"/>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Margin = GAAP operating income / GAAP revenue; source: 2025 SEC 10-K p.56</a:t>
            </a:r>
            <a:endParaRPr lang="en-US" sz="9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Operating Income Bridge  |  FY2024 → FY2025</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Arithmetic reconciliation, not causal attribution</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05</a:t>
            </a:r>
            <a:endParaRPr lang="en-US" sz="900" dirty="0"/>
          </a:p>
        </p:txBody>
      </p:sp>
      <p:sp>
        <p:nvSpPr>
          <p:cNvPr id="8" name="Shape 6"/>
          <p:cNvSpPr/>
          <p:nvPr/>
        </p:nvSpPr>
        <p:spPr>
          <a:xfrm>
            <a:off x="521208" y="1325880"/>
            <a:ext cx="1572768" cy="1572768"/>
          </a:xfrm>
          <a:prstGeom prst="roundRect">
            <a:avLst/>
          </a:prstGeom>
          <a:solidFill>
            <a:srgbClr val="EEF3F8"/>
          </a:solidFill>
          <a:ln w="12700">
            <a:solidFill>
              <a:srgbClr val="EEF3F8">
                <a:alpha val="0"/>
              </a:srgbClr>
            </a:solidFill>
            <a:prstDash val="solid"/>
          </a:ln>
        </p:spPr>
      </p:sp>
      <p:sp>
        <p:nvSpPr>
          <p:cNvPr id="9" name="Shape 7"/>
          <p:cNvSpPr/>
          <p:nvPr/>
        </p:nvSpPr>
        <p:spPr>
          <a:xfrm>
            <a:off x="521208" y="1325880"/>
            <a:ext cx="1572768" cy="82296"/>
          </a:xfrm>
          <a:prstGeom prst="rect">
            <a:avLst/>
          </a:prstGeom>
          <a:solidFill>
            <a:srgbClr val="142B46"/>
          </a:solidFill>
          <a:ln w="12700">
            <a:solidFill>
              <a:srgbClr val="142B46">
                <a:alpha val="0"/>
              </a:srgbClr>
            </a:solidFill>
            <a:prstDash val="solid"/>
          </a:ln>
        </p:spPr>
      </p:sp>
      <p:sp>
        <p:nvSpPr>
          <p:cNvPr id="10" name="Text 8"/>
          <p:cNvSpPr/>
          <p:nvPr/>
        </p:nvSpPr>
        <p:spPr>
          <a:xfrm>
            <a:off x="630936"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2024 EBIT</a:t>
            </a:r>
            <a:endParaRPr lang="en-US" sz="1300" dirty="0"/>
          </a:p>
        </p:txBody>
      </p:sp>
      <p:sp>
        <p:nvSpPr>
          <p:cNvPr id="11" name="Text 9"/>
          <p:cNvSpPr/>
          <p:nvPr/>
        </p:nvSpPr>
        <p:spPr>
          <a:xfrm>
            <a:off x="594360"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142B46"/>
                </a:solidFill>
                <a:latin typeface="Aptos" pitchFamily="34" charset="0"/>
                <a:ea typeface="Aptos" pitchFamily="34" charset="-122"/>
                <a:cs typeface="Aptos" pitchFamily="34" charset="-120"/>
              </a:rPr>
              <a:t>$5,995m</a:t>
            </a:r>
            <a:endParaRPr lang="en-US" sz="1800" dirty="0"/>
          </a:p>
        </p:txBody>
      </p:sp>
      <p:sp>
        <p:nvSpPr>
          <p:cNvPr id="12" name="Shape 10"/>
          <p:cNvSpPr/>
          <p:nvPr/>
        </p:nvSpPr>
        <p:spPr>
          <a:xfrm>
            <a:off x="2176272" y="1325880"/>
            <a:ext cx="1572768" cy="1572768"/>
          </a:xfrm>
          <a:prstGeom prst="roundRect">
            <a:avLst/>
          </a:prstGeom>
          <a:solidFill>
            <a:srgbClr val="EEF3F8"/>
          </a:solidFill>
          <a:ln w="12700">
            <a:solidFill>
              <a:srgbClr val="EEF3F8">
                <a:alpha val="0"/>
              </a:srgbClr>
            </a:solidFill>
            <a:prstDash val="solid"/>
          </a:ln>
        </p:spPr>
      </p:sp>
      <p:sp>
        <p:nvSpPr>
          <p:cNvPr id="13" name="Shape 11"/>
          <p:cNvSpPr/>
          <p:nvPr/>
        </p:nvSpPr>
        <p:spPr>
          <a:xfrm>
            <a:off x="2176272" y="1325880"/>
            <a:ext cx="1572768" cy="82296"/>
          </a:xfrm>
          <a:prstGeom prst="rect">
            <a:avLst/>
          </a:prstGeom>
          <a:solidFill>
            <a:srgbClr val="267A62"/>
          </a:solidFill>
          <a:ln w="12700">
            <a:solidFill>
              <a:srgbClr val="267A62">
                <a:alpha val="0"/>
              </a:srgbClr>
            </a:solidFill>
            <a:prstDash val="solid"/>
          </a:ln>
        </p:spPr>
      </p:sp>
      <p:sp>
        <p:nvSpPr>
          <p:cNvPr id="14" name="Text 12"/>
          <p:cNvSpPr/>
          <p:nvPr/>
        </p:nvSpPr>
        <p:spPr>
          <a:xfrm>
            <a:off x="2286000"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Passenger revenue</a:t>
            </a:r>
            <a:endParaRPr lang="en-US" sz="1300" dirty="0"/>
          </a:p>
        </p:txBody>
      </p:sp>
      <p:sp>
        <p:nvSpPr>
          <p:cNvPr id="15" name="Text 13"/>
          <p:cNvSpPr/>
          <p:nvPr/>
        </p:nvSpPr>
        <p:spPr>
          <a:xfrm>
            <a:off x="2249424"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267A62"/>
                </a:solidFill>
                <a:latin typeface="Aptos" pitchFamily="34" charset="0"/>
                <a:ea typeface="Aptos" pitchFamily="34" charset="-122"/>
                <a:cs typeface="Aptos" pitchFamily="34" charset="-120"/>
              </a:rPr>
              <a:t>$874m</a:t>
            </a:r>
            <a:endParaRPr lang="en-US" sz="1800" dirty="0"/>
          </a:p>
        </p:txBody>
      </p:sp>
      <p:sp>
        <p:nvSpPr>
          <p:cNvPr id="16" name="Shape 14"/>
          <p:cNvSpPr/>
          <p:nvPr/>
        </p:nvSpPr>
        <p:spPr>
          <a:xfrm>
            <a:off x="3831336" y="1325880"/>
            <a:ext cx="1572768" cy="1572768"/>
          </a:xfrm>
          <a:prstGeom prst="roundRect">
            <a:avLst/>
          </a:prstGeom>
          <a:solidFill>
            <a:srgbClr val="EEF3F8"/>
          </a:solidFill>
          <a:ln w="12700">
            <a:solidFill>
              <a:srgbClr val="EEF3F8">
                <a:alpha val="0"/>
              </a:srgbClr>
            </a:solidFill>
            <a:prstDash val="solid"/>
          </a:ln>
        </p:spPr>
      </p:sp>
      <p:sp>
        <p:nvSpPr>
          <p:cNvPr id="17" name="Shape 15"/>
          <p:cNvSpPr/>
          <p:nvPr/>
        </p:nvSpPr>
        <p:spPr>
          <a:xfrm>
            <a:off x="3831336" y="1325880"/>
            <a:ext cx="1572768" cy="82296"/>
          </a:xfrm>
          <a:prstGeom prst="rect">
            <a:avLst/>
          </a:prstGeom>
          <a:solidFill>
            <a:srgbClr val="267A62"/>
          </a:solidFill>
          <a:ln w="12700">
            <a:solidFill>
              <a:srgbClr val="267A62">
                <a:alpha val="0"/>
              </a:srgbClr>
            </a:solidFill>
            <a:prstDash val="solid"/>
          </a:ln>
        </p:spPr>
      </p:sp>
      <p:sp>
        <p:nvSpPr>
          <p:cNvPr id="18" name="Text 16"/>
          <p:cNvSpPr/>
          <p:nvPr/>
        </p:nvSpPr>
        <p:spPr>
          <a:xfrm>
            <a:off x="3941064"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Cargo + other revenue</a:t>
            </a:r>
            <a:endParaRPr lang="en-US" sz="1300" dirty="0"/>
          </a:p>
        </p:txBody>
      </p:sp>
      <p:sp>
        <p:nvSpPr>
          <p:cNvPr id="19" name="Text 17"/>
          <p:cNvSpPr/>
          <p:nvPr/>
        </p:nvSpPr>
        <p:spPr>
          <a:xfrm>
            <a:off x="3904488"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267A62"/>
                </a:solidFill>
                <a:latin typeface="Aptos" pitchFamily="34" charset="0"/>
                <a:ea typeface="Aptos" pitchFamily="34" charset="-122"/>
                <a:cs typeface="Aptos" pitchFamily="34" charset="-120"/>
              </a:rPr>
              <a:t>$847m</a:t>
            </a:r>
            <a:endParaRPr lang="en-US" sz="1800" dirty="0"/>
          </a:p>
        </p:txBody>
      </p:sp>
      <p:sp>
        <p:nvSpPr>
          <p:cNvPr id="20" name="Shape 18"/>
          <p:cNvSpPr/>
          <p:nvPr/>
        </p:nvSpPr>
        <p:spPr>
          <a:xfrm>
            <a:off x="5486400" y="1325880"/>
            <a:ext cx="1572768" cy="1572768"/>
          </a:xfrm>
          <a:prstGeom prst="roundRect">
            <a:avLst/>
          </a:prstGeom>
          <a:solidFill>
            <a:srgbClr val="EEF3F8"/>
          </a:solidFill>
          <a:ln w="12700">
            <a:solidFill>
              <a:srgbClr val="EEF3F8">
                <a:alpha val="0"/>
              </a:srgbClr>
            </a:solidFill>
            <a:prstDash val="solid"/>
          </a:ln>
        </p:spPr>
      </p:sp>
      <p:sp>
        <p:nvSpPr>
          <p:cNvPr id="21" name="Shape 19"/>
          <p:cNvSpPr/>
          <p:nvPr/>
        </p:nvSpPr>
        <p:spPr>
          <a:xfrm>
            <a:off x="5486400" y="1325880"/>
            <a:ext cx="1572768" cy="82296"/>
          </a:xfrm>
          <a:prstGeom prst="rect">
            <a:avLst/>
          </a:prstGeom>
          <a:solidFill>
            <a:srgbClr val="C51F36"/>
          </a:solidFill>
          <a:ln w="12700">
            <a:solidFill>
              <a:srgbClr val="C51F36">
                <a:alpha val="0"/>
              </a:srgbClr>
            </a:solidFill>
            <a:prstDash val="solid"/>
          </a:ln>
        </p:spPr>
      </p:sp>
      <p:sp>
        <p:nvSpPr>
          <p:cNvPr id="22" name="Text 20"/>
          <p:cNvSpPr/>
          <p:nvPr/>
        </p:nvSpPr>
        <p:spPr>
          <a:xfrm>
            <a:off x="5596128"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Salaries</a:t>
            </a:r>
            <a:endParaRPr lang="en-US" sz="1300" dirty="0"/>
          </a:p>
        </p:txBody>
      </p:sp>
      <p:sp>
        <p:nvSpPr>
          <p:cNvPr id="23" name="Text 21"/>
          <p:cNvSpPr/>
          <p:nvPr/>
        </p:nvSpPr>
        <p:spPr>
          <a:xfrm>
            <a:off x="5559552"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C51F36"/>
                </a:solidFill>
                <a:latin typeface="Aptos" pitchFamily="34" charset="0"/>
                <a:ea typeface="Aptos" pitchFamily="34" charset="-122"/>
                <a:cs typeface="Aptos" pitchFamily="34" charset="-120"/>
              </a:rPr>
              <a:t>−$1,359m</a:t>
            </a:r>
            <a:endParaRPr lang="en-US" sz="1800" dirty="0"/>
          </a:p>
        </p:txBody>
      </p:sp>
      <p:sp>
        <p:nvSpPr>
          <p:cNvPr id="24" name="Shape 22"/>
          <p:cNvSpPr/>
          <p:nvPr/>
        </p:nvSpPr>
        <p:spPr>
          <a:xfrm>
            <a:off x="7141464" y="1325880"/>
            <a:ext cx="1572768" cy="1572768"/>
          </a:xfrm>
          <a:prstGeom prst="roundRect">
            <a:avLst/>
          </a:prstGeom>
          <a:solidFill>
            <a:srgbClr val="EEF3F8"/>
          </a:solidFill>
          <a:ln w="12700">
            <a:solidFill>
              <a:srgbClr val="EEF3F8">
                <a:alpha val="0"/>
              </a:srgbClr>
            </a:solidFill>
            <a:prstDash val="solid"/>
          </a:ln>
        </p:spPr>
      </p:sp>
      <p:sp>
        <p:nvSpPr>
          <p:cNvPr id="25" name="Shape 23"/>
          <p:cNvSpPr/>
          <p:nvPr/>
        </p:nvSpPr>
        <p:spPr>
          <a:xfrm>
            <a:off x="7141464" y="1325880"/>
            <a:ext cx="1572768" cy="82296"/>
          </a:xfrm>
          <a:prstGeom prst="rect">
            <a:avLst/>
          </a:prstGeom>
          <a:solidFill>
            <a:srgbClr val="267A62"/>
          </a:solidFill>
          <a:ln w="12700">
            <a:solidFill>
              <a:srgbClr val="267A62">
                <a:alpha val="0"/>
              </a:srgbClr>
            </a:solidFill>
            <a:prstDash val="solid"/>
          </a:ln>
        </p:spPr>
      </p:sp>
      <p:sp>
        <p:nvSpPr>
          <p:cNvPr id="26" name="Text 24"/>
          <p:cNvSpPr/>
          <p:nvPr/>
        </p:nvSpPr>
        <p:spPr>
          <a:xfrm>
            <a:off x="7251192"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Fuel cost savings</a:t>
            </a:r>
            <a:endParaRPr lang="en-US" sz="1300" dirty="0"/>
          </a:p>
        </p:txBody>
      </p:sp>
      <p:sp>
        <p:nvSpPr>
          <p:cNvPr id="27" name="Text 25"/>
          <p:cNvSpPr/>
          <p:nvPr/>
        </p:nvSpPr>
        <p:spPr>
          <a:xfrm>
            <a:off x="7214616"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267A62"/>
                </a:solidFill>
                <a:latin typeface="Aptos" pitchFamily="34" charset="0"/>
                <a:ea typeface="Aptos" pitchFamily="34" charset="-122"/>
                <a:cs typeface="Aptos" pitchFamily="34" charset="-120"/>
              </a:rPr>
              <a:t>$747m</a:t>
            </a:r>
            <a:endParaRPr lang="en-US" sz="1800" dirty="0"/>
          </a:p>
        </p:txBody>
      </p:sp>
      <p:sp>
        <p:nvSpPr>
          <p:cNvPr id="28" name="Shape 26"/>
          <p:cNvSpPr/>
          <p:nvPr/>
        </p:nvSpPr>
        <p:spPr>
          <a:xfrm>
            <a:off x="8796528" y="1325880"/>
            <a:ext cx="1572768" cy="1572768"/>
          </a:xfrm>
          <a:prstGeom prst="roundRect">
            <a:avLst/>
          </a:prstGeom>
          <a:solidFill>
            <a:srgbClr val="EEF3F8"/>
          </a:solidFill>
          <a:ln w="12700">
            <a:solidFill>
              <a:srgbClr val="EEF3F8">
                <a:alpha val="0"/>
              </a:srgbClr>
            </a:solidFill>
            <a:prstDash val="solid"/>
          </a:ln>
        </p:spPr>
      </p:sp>
      <p:sp>
        <p:nvSpPr>
          <p:cNvPr id="29" name="Shape 27"/>
          <p:cNvSpPr/>
          <p:nvPr/>
        </p:nvSpPr>
        <p:spPr>
          <a:xfrm>
            <a:off x="8796528" y="1325880"/>
            <a:ext cx="1572768" cy="82296"/>
          </a:xfrm>
          <a:prstGeom prst="rect">
            <a:avLst/>
          </a:prstGeom>
          <a:solidFill>
            <a:srgbClr val="C51F36"/>
          </a:solidFill>
          <a:ln w="12700">
            <a:solidFill>
              <a:srgbClr val="C51F36">
                <a:alpha val="0"/>
              </a:srgbClr>
            </a:solidFill>
            <a:prstDash val="solid"/>
          </a:ln>
        </p:spPr>
      </p:sp>
      <p:sp>
        <p:nvSpPr>
          <p:cNvPr id="30" name="Text 28"/>
          <p:cNvSpPr/>
          <p:nvPr/>
        </p:nvSpPr>
        <p:spPr>
          <a:xfrm>
            <a:off x="8906256"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Other costs</a:t>
            </a:r>
            <a:endParaRPr lang="en-US" sz="1300" dirty="0"/>
          </a:p>
        </p:txBody>
      </p:sp>
      <p:sp>
        <p:nvSpPr>
          <p:cNvPr id="31" name="Text 29"/>
          <p:cNvSpPr/>
          <p:nvPr/>
        </p:nvSpPr>
        <p:spPr>
          <a:xfrm>
            <a:off x="8869680"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C51F36"/>
                </a:solidFill>
                <a:latin typeface="Aptos" pitchFamily="34" charset="0"/>
                <a:ea typeface="Aptos" pitchFamily="34" charset="-122"/>
                <a:cs typeface="Aptos" pitchFamily="34" charset="-120"/>
              </a:rPr>
              <a:t>−$1,282m</a:t>
            </a:r>
            <a:endParaRPr lang="en-US" sz="1800" dirty="0"/>
          </a:p>
        </p:txBody>
      </p:sp>
      <p:sp>
        <p:nvSpPr>
          <p:cNvPr id="32" name="Shape 30"/>
          <p:cNvSpPr/>
          <p:nvPr/>
        </p:nvSpPr>
        <p:spPr>
          <a:xfrm>
            <a:off x="10451592" y="1325880"/>
            <a:ext cx="1572768" cy="1572768"/>
          </a:xfrm>
          <a:prstGeom prst="roundRect">
            <a:avLst/>
          </a:prstGeom>
          <a:solidFill>
            <a:srgbClr val="EEF3F8"/>
          </a:solidFill>
          <a:ln w="12700">
            <a:solidFill>
              <a:srgbClr val="EEF3F8">
                <a:alpha val="0"/>
              </a:srgbClr>
            </a:solidFill>
            <a:prstDash val="solid"/>
          </a:ln>
        </p:spPr>
      </p:sp>
      <p:sp>
        <p:nvSpPr>
          <p:cNvPr id="33" name="Shape 31"/>
          <p:cNvSpPr/>
          <p:nvPr/>
        </p:nvSpPr>
        <p:spPr>
          <a:xfrm>
            <a:off x="10451592" y="1325880"/>
            <a:ext cx="1572768" cy="82296"/>
          </a:xfrm>
          <a:prstGeom prst="rect">
            <a:avLst/>
          </a:prstGeom>
          <a:solidFill>
            <a:srgbClr val="142B46"/>
          </a:solidFill>
          <a:ln w="12700">
            <a:solidFill>
              <a:srgbClr val="142B46">
                <a:alpha val="0"/>
              </a:srgbClr>
            </a:solidFill>
            <a:prstDash val="solid"/>
          </a:ln>
        </p:spPr>
      </p:sp>
      <p:sp>
        <p:nvSpPr>
          <p:cNvPr id="34" name="Text 32"/>
          <p:cNvSpPr/>
          <p:nvPr/>
        </p:nvSpPr>
        <p:spPr>
          <a:xfrm>
            <a:off x="10561320" y="1536192"/>
            <a:ext cx="1353312" cy="530352"/>
          </a:xfrm>
          <a:prstGeom prst="rect">
            <a:avLst/>
          </a:prstGeom>
          <a:noFill/>
          <a:ln/>
        </p:spPr>
        <p:txBody>
          <a:bodyPr wrap="square" lIns="0" tIns="0" rIns="0" bIns="0" rtlCol="0" anchor="ctr">
            <a:normAutofit/>
          </a:bodyPr>
          <a:lstStyle/>
          <a:p>
            <a:pPr algn="ctr" indent="0" marL="0">
              <a:buNone/>
            </a:pPr>
            <a:r>
              <a:rPr lang="en-US" sz="1300" b="1" dirty="0">
                <a:solidFill>
                  <a:srgbClr val="192C41"/>
                </a:solidFill>
                <a:latin typeface="Aptos" pitchFamily="34" charset="0"/>
                <a:ea typeface="Aptos" pitchFamily="34" charset="-122"/>
                <a:cs typeface="Aptos" pitchFamily="34" charset="-120"/>
              </a:rPr>
              <a:t>2025 EBIT</a:t>
            </a:r>
            <a:endParaRPr lang="en-US" sz="1300" dirty="0"/>
          </a:p>
        </p:txBody>
      </p:sp>
      <p:sp>
        <p:nvSpPr>
          <p:cNvPr id="35" name="Text 33"/>
          <p:cNvSpPr/>
          <p:nvPr/>
        </p:nvSpPr>
        <p:spPr>
          <a:xfrm>
            <a:off x="10524744" y="2240280"/>
            <a:ext cx="1426464" cy="301752"/>
          </a:xfrm>
          <a:prstGeom prst="rect">
            <a:avLst/>
          </a:prstGeom>
          <a:noFill/>
          <a:ln/>
        </p:spPr>
        <p:txBody>
          <a:bodyPr wrap="square" lIns="0" tIns="0" rIns="0" bIns="0" rtlCol="0" anchor="ctr">
            <a:normAutofit/>
          </a:bodyPr>
          <a:lstStyle/>
          <a:p>
            <a:pPr algn="ctr" indent="0" marL="0">
              <a:buNone/>
            </a:pPr>
            <a:r>
              <a:rPr lang="en-US" sz="1800" b="1" dirty="0">
                <a:solidFill>
                  <a:srgbClr val="142B46"/>
                </a:solidFill>
                <a:latin typeface="Aptos" pitchFamily="34" charset="0"/>
                <a:ea typeface="Aptos" pitchFamily="34" charset="-122"/>
                <a:cs typeface="Aptos" pitchFamily="34" charset="-120"/>
              </a:rPr>
              <a:t>$5,822m</a:t>
            </a:r>
            <a:endParaRPr lang="en-US" sz="1800" dirty="0"/>
          </a:p>
        </p:txBody>
      </p:sp>
      <p:sp>
        <p:nvSpPr>
          <p:cNvPr id="36" name="Shape 34"/>
          <p:cNvSpPr/>
          <p:nvPr/>
        </p:nvSpPr>
        <p:spPr>
          <a:xfrm>
            <a:off x="786384" y="3520440"/>
            <a:ext cx="10607040" cy="1417320"/>
          </a:xfrm>
          <a:prstGeom prst="roundRect">
            <a:avLst/>
          </a:prstGeom>
          <a:solidFill>
            <a:srgbClr val="EEF3F8"/>
          </a:solidFill>
          <a:ln w="12700">
            <a:solidFill>
              <a:srgbClr val="EEF3F8">
                <a:alpha val="0"/>
              </a:srgbClr>
            </a:solidFill>
            <a:prstDash val="solid"/>
          </a:ln>
        </p:spPr>
      </p:sp>
      <p:sp>
        <p:nvSpPr>
          <p:cNvPr id="37" name="Shape 35"/>
          <p:cNvSpPr/>
          <p:nvPr/>
        </p:nvSpPr>
        <p:spPr>
          <a:xfrm>
            <a:off x="786384" y="3520440"/>
            <a:ext cx="77724" cy="1417320"/>
          </a:xfrm>
          <a:prstGeom prst="rect">
            <a:avLst/>
          </a:prstGeom>
          <a:solidFill>
            <a:srgbClr val="142B46"/>
          </a:solidFill>
          <a:ln w="12700">
            <a:solidFill>
              <a:srgbClr val="142B46">
                <a:alpha val="0"/>
              </a:srgbClr>
            </a:solidFill>
            <a:prstDash val="solid"/>
          </a:ln>
        </p:spPr>
      </p:sp>
      <p:sp>
        <p:nvSpPr>
          <p:cNvPr id="38" name="Text 36"/>
          <p:cNvSpPr/>
          <p:nvPr/>
        </p:nvSpPr>
        <p:spPr>
          <a:xfrm>
            <a:off x="987552" y="3703320"/>
            <a:ext cx="10259568"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GAAP RECONCILIATION</a:t>
            </a:r>
            <a:endParaRPr lang="en-US" sz="1800" dirty="0"/>
          </a:p>
        </p:txBody>
      </p:sp>
      <p:sp>
        <p:nvSpPr>
          <p:cNvPr id="39" name="Text 37"/>
          <p:cNvSpPr/>
          <p:nvPr/>
        </p:nvSpPr>
        <p:spPr>
          <a:xfrm>
            <a:off x="987552" y="4069080"/>
            <a:ext cx="10213848" cy="704088"/>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FY2024 operating income + revenue changes − expense changes = FY2025 operating income. Check difference = $0m.</a:t>
            </a:r>
            <a:endParaRPr lang="en-US" sz="1400" dirty="0"/>
          </a:p>
        </p:txBody>
      </p:sp>
      <p:sp>
        <p:nvSpPr>
          <p:cNvPr id="40" name="Text 38"/>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Sources: FY2025 10-K Consolidated Statements of Operations, p.56; units $ million</a:t>
            </a:r>
            <a:endParaRPr lang="en-US" sz="9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Fuel Expense: Price and Volume Matter Separately</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FY2024 → FY2025 source-backed decomposition</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06</a:t>
            </a:r>
            <a:endParaRPr lang="en-US" sz="900" dirty="0"/>
          </a:p>
        </p:txBody>
      </p:sp>
      <p:sp>
        <p:nvSpPr>
          <p:cNvPr id="8" name="Shape 6"/>
          <p:cNvSpPr/>
          <p:nvPr/>
        </p:nvSpPr>
        <p:spPr>
          <a:xfrm>
            <a:off x="685800" y="1371600"/>
            <a:ext cx="3456432" cy="1609344"/>
          </a:xfrm>
          <a:prstGeom prst="roundRect">
            <a:avLst/>
          </a:prstGeom>
          <a:solidFill>
            <a:srgbClr val="EEF3F8"/>
          </a:solidFill>
          <a:ln w="12700">
            <a:solidFill>
              <a:srgbClr val="EEF3F8">
                <a:alpha val="0"/>
              </a:srgbClr>
            </a:solidFill>
            <a:prstDash val="solid"/>
          </a:ln>
        </p:spPr>
      </p:sp>
      <p:sp>
        <p:nvSpPr>
          <p:cNvPr id="9" name="Shape 7"/>
          <p:cNvSpPr/>
          <p:nvPr/>
        </p:nvSpPr>
        <p:spPr>
          <a:xfrm>
            <a:off x="685800" y="1371600"/>
            <a:ext cx="77724" cy="1609344"/>
          </a:xfrm>
          <a:prstGeom prst="rect">
            <a:avLst/>
          </a:prstGeom>
          <a:solidFill>
            <a:srgbClr val="245079"/>
          </a:solidFill>
          <a:ln w="12700">
            <a:solidFill>
              <a:srgbClr val="245079">
                <a:alpha val="0"/>
              </a:srgbClr>
            </a:solidFill>
            <a:prstDash val="solid"/>
          </a:ln>
        </p:spPr>
      </p:sp>
      <p:sp>
        <p:nvSpPr>
          <p:cNvPr id="10" name="Text 8"/>
          <p:cNvSpPr/>
          <p:nvPr/>
        </p:nvSpPr>
        <p:spPr>
          <a:xfrm>
            <a:off x="886968" y="1554480"/>
            <a:ext cx="3108960" cy="301752"/>
          </a:xfrm>
          <a:prstGeom prst="rect">
            <a:avLst/>
          </a:prstGeom>
          <a:noFill/>
          <a:ln/>
        </p:spPr>
        <p:txBody>
          <a:bodyPr wrap="square" lIns="0" tIns="0" rIns="0" bIns="0" rtlCol="0" anchor="ctr">
            <a:normAutofit/>
          </a:bodyPr>
          <a:lstStyle/>
          <a:p>
            <a:pPr indent="0" marL="0">
              <a:buNone/>
            </a:pPr>
            <a:r>
              <a:rPr lang="en-US" sz="1800" b="1" dirty="0">
                <a:solidFill>
                  <a:srgbClr val="245079"/>
                </a:solidFill>
                <a:latin typeface="Aptos" pitchFamily="34" charset="0"/>
                <a:ea typeface="Aptos" pitchFamily="34" charset="-122"/>
                <a:cs typeface="Aptos" pitchFamily="34" charset="-120"/>
              </a:rPr>
              <a:t>FUEL GALLONS</a:t>
            </a:r>
            <a:endParaRPr lang="en-US" sz="1800" dirty="0"/>
          </a:p>
        </p:txBody>
      </p:sp>
      <p:sp>
        <p:nvSpPr>
          <p:cNvPr id="11" name="Text 9"/>
          <p:cNvSpPr/>
          <p:nvPr/>
        </p:nvSpPr>
        <p:spPr>
          <a:xfrm>
            <a:off x="886968" y="1920240"/>
            <a:ext cx="3063240" cy="896112"/>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4,114m → 4,269m</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+3.8% volume</a:t>
            </a:r>
            <a:endParaRPr lang="en-US" sz="1400" dirty="0"/>
          </a:p>
        </p:txBody>
      </p:sp>
      <p:sp>
        <p:nvSpPr>
          <p:cNvPr id="12" name="Shape 10"/>
          <p:cNvSpPr/>
          <p:nvPr/>
        </p:nvSpPr>
        <p:spPr>
          <a:xfrm>
            <a:off x="4361688" y="1371600"/>
            <a:ext cx="3456432" cy="1609344"/>
          </a:xfrm>
          <a:prstGeom prst="roundRect">
            <a:avLst/>
          </a:prstGeom>
          <a:solidFill>
            <a:srgbClr val="EEF3F8"/>
          </a:solidFill>
          <a:ln w="12700">
            <a:solidFill>
              <a:srgbClr val="EEF3F8">
                <a:alpha val="0"/>
              </a:srgbClr>
            </a:solidFill>
            <a:prstDash val="solid"/>
          </a:ln>
        </p:spPr>
      </p:sp>
      <p:sp>
        <p:nvSpPr>
          <p:cNvPr id="13" name="Shape 11"/>
          <p:cNvSpPr/>
          <p:nvPr/>
        </p:nvSpPr>
        <p:spPr>
          <a:xfrm>
            <a:off x="4361688" y="1371600"/>
            <a:ext cx="77724" cy="1609344"/>
          </a:xfrm>
          <a:prstGeom prst="rect">
            <a:avLst/>
          </a:prstGeom>
          <a:solidFill>
            <a:srgbClr val="142B46"/>
          </a:solidFill>
          <a:ln w="12700">
            <a:solidFill>
              <a:srgbClr val="142B46">
                <a:alpha val="0"/>
              </a:srgbClr>
            </a:solidFill>
            <a:prstDash val="solid"/>
          </a:ln>
        </p:spPr>
      </p:sp>
      <p:sp>
        <p:nvSpPr>
          <p:cNvPr id="14" name="Text 12"/>
          <p:cNvSpPr/>
          <p:nvPr/>
        </p:nvSpPr>
        <p:spPr>
          <a:xfrm>
            <a:off x="4562856" y="1554480"/>
            <a:ext cx="3108960"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REPORTED FUEL COST</a:t>
            </a:r>
            <a:endParaRPr lang="en-US" sz="1800" dirty="0"/>
          </a:p>
        </p:txBody>
      </p:sp>
      <p:sp>
        <p:nvSpPr>
          <p:cNvPr id="15" name="Text 13"/>
          <p:cNvSpPr/>
          <p:nvPr/>
        </p:nvSpPr>
        <p:spPr>
          <a:xfrm>
            <a:off x="4562856" y="1920240"/>
            <a:ext cx="3063240" cy="896112"/>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$10.57B → $9.82B</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$747m decrease</a:t>
            </a:r>
            <a:endParaRPr lang="en-US" sz="1400" dirty="0"/>
          </a:p>
        </p:txBody>
      </p:sp>
      <p:sp>
        <p:nvSpPr>
          <p:cNvPr id="16" name="Shape 14"/>
          <p:cNvSpPr/>
          <p:nvPr/>
        </p:nvSpPr>
        <p:spPr>
          <a:xfrm>
            <a:off x="8028432" y="1371600"/>
            <a:ext cx="3456432" cy="1609344"/>
          </a:xfrm>
          <a:prstGeom prst="roundRect">
            <a:avLst/>
          </a:prstGeom>
          <a:solidFill>
            <a:srgbClr val="EEF3F8"/>
          </a:solidFill>
          <a:ln w="12700">
            <a:solidFill>
              <a:srgbClr val="EEF3F8">
                <a:alpha val="0"/>
              </a:srgbClr>
            </a:solidFill>
            <a:prstDash val="solid"/>
          </a:ln>
        </p:spPr>
      </p:sp>
      <p:sp>
        <p:nvSpPr>
          <p:cNvPr id="17" name="Shape 15"/>
          <p:cNvSpPr/>
          <p:nvPr/>
        </p:nvSpPr>
        <p:spPr>
          <a:xfrm>
            <a:off x="8028432" y="1371600"/>
            <a:ext cx="77724" cy="1609344"/>
          </a:xfrm>
          <a:prstGeom prst="rect">
            <a:avLst/>
          </a:prstGeom>
          <a:solidFill>
            <a:srgbClr val="C51F36"/>
          </a:solidFill>
          <a:ln w="12700">
            <a:solidFill>
              <a:srgbClr val="C51F36">
                <a:alpha val="0"/>
              </a:srgbClr>
            </a:solidFill>
            <a:prstDash val="solid"/>
          </a:ln>
        </p:spPr>
      </p:sp>
      <p:sp>
        <p:nvSpPr>
          <p:cNvPr id="18" name="Text 16"/>
          <p:cNvSpPr/>
          <p:nvPr/>
        </p:nvSpPr>
        <p:spPr>
          <a:xfrm>
            <a:off x="8229600" y="1554480"/>
            <a:ext cx="3108960" cy="301752"/>
          </a:xfrm>
          <a:prstGeom prst="rect">
            <a:avLst/>
          </a:prstGeom>
          <a:noFill/>
          <a:ln/>
        </p:spPr>
        <p:txBody>
          <a:bodyPr wrap="square" lIns="0" tIns="0" rIns="0" bIns="0" rtlCol="0" anchor="ctr">
            <a:normAutofit/>
          </a:bodyPr>
          <a:lstStyle/>
          <a:p>
            <a:pPr indent="0" marL="0">
              <a:buNone/>
            </a:pPr>
            <a:r>
              <a:rPr lang="en-US" sz="1800" b="1" dirty="0">
                <a:solidFill>
                  <a:srgbClr val="C51F36"/>
                </a:solidFill>
                <a:latin typeface="Aptos" pitchFamily="34" charset="0"/>
                <a:ea typeface="Aptos" pitchFamily="34" charset="-122"/>
                <a:cs typeface="Aptos" pitchFamily="34" charset="-120"/>
              </a:rPr>
              <a:t>REPORTED PRICE</a:t>
            </a:r>
            <a:endParaRPr lang="en-US" sz="1800" dirty="0"/>
          </a:p>
        </p:txBody>
      </p:sp>
      <p:sp>
        <p:nvSpPr>
          <p:cNvPr id="19" name="Text 17"/>
          <p:cNvSpPr/>
          <p:nvPr/>
        </p:nvSpPr>
        <p:spPr>
          <a:xfrm>
            <a:off x="8229600" y="1920240"/>
            <a:ext cx="3063240" cy="896112"/>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~$2.57 → ~$2.30</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per gallon, rounded</a:t>
            </a:r>
            <a:endParaRPr lang="en-US" sz="1400" dirty="0"/>
          </a:p>
        </p:txBody>
      </p:sp>
      <p:sp>
        <p:nvSpPr>
          <p:cNvPr id="20" name="Text 18"/>
          <p:cNvSpPr/>
          <p:nvPr/>
        </p:nvSpPr>
        <p:spPr>
          <a:xfrm>
            <a:off x="932688" y="3401568"/>
            <a:ext cx="10241280" cy="576072"/>
          </a:xfrm>
          <a:prstGeom prst="rect">
            <a:avLst/>
          </a:prstGeom>
          <a:noFill/>
          <a:ln/>
        </p:spPr>
        <p:txBody>
          <a:bodyPr wrap="square" lIns="0" tIns="0" rIns="0" bIns="0" rtlCol="0" anchor="ctr">
            <a:normAutofit/>
          </a:bodyPr>
          <a:lstStyle/>
          <a:p>
            <a:pPr algn="ctr" indent="0" marL="0">
              <a:buNone/>
            </a:pPr>
            <a:r>
              <a:rPr lang="en-US" sz="2900" b="1" dirty="0">
                <a:solidFill>
                  <a:srgbClr val="142B46"/>
                </a:solidFill>
                <a:latin typeface="Aptos" pitchFamily="34" charset="0"/>
                <a:ea typeface="Aptos" pitchFamily="34" charset="-122"/>
                <a:cs typeface="Aptos" pitchFamily="34" charset="-120"/>
              </a:rPr>
              <a:t>Price effect + volume effect = −$747 million</a:t>
            </a:r>
            <a:endParaRPr lang="en-US" sz="2900" dirty="0"/>
          </a:p>
        </p:txBody>
      </p:sp>
      <p:sp>
        <p:nvSpPr>
          <p:cNvPr id="21" name="Text 19"/>
          <p:cNvSpPr/>
          <p:nvPr/>
        </p:nvSpPr>
        <p:spPr>
          <a:xfrm>
            <a:off x="1143000" y="4224528"/>
            <a:ext cx="9966960" cy="457200"/>
          </a:xfrm>
          <a:prstGeom prst="rect">
            <a:avLst/>
          </a:prstGeom>
          <a:noFill/>
          <a:ln/>
        </p:spPr>
        <p:txBody>
          <a:bodyPr wrap="square" lIns="0" tIns="0" rIns="0" bIns="0" rtlCol="0" anchor="ctr">
            <a:normAutofit/>
          </a:bodyPr>
          <a:lstStyle/>
          <a:p>
            <a:pPr algn="ctr" indent="0" marL="0">
              <a:buNone/>
            </a:pPr>
            <a:r>
              <a:rPr lang="en-US" sz="1600" dirty="0">
                <a:solidFill>
                  <a:srgbClr val="52687C"/>
                </a:solidFill>
                <a:latin typeface="Aptos" pitchFamily="34" charset="0"/>
                <a:ea typeface="Aptos" pitchFamily="34" charset="-122"/>
                <a:cs typeface="Aptos" pitchFamily="34" charset="-120"/>
              </a:rPr>
              <a:t>Calculated using implied unrounded cost per gallon = GAAP fuel expense / gallons consumed.</a:t>
            </a:r>
            <a:endParaRPr lang="en-US" sz="1600" dirty="0"/>
          </a:p>
        </p:txBody>
      </p:sp>
      <p:sp>
        <p:nvSpPr>
          <p:cNvPr id="22" name="Text 20"/>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Source: Delta FY2025 SEC 10-K pp.11 and 56; decomposition is mathematical, not proof of causation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Build an Operating Plan From Drivers</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2026–2028 illustrative planning assumptions</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07</a:t>
            </a:r>
            <a:endParaRPr lang="en-US" sz="900" dirty="0"/>
          </a:p>
        </p:txBody>
      </p:sp>
      <p:sp>
        <p:nvSpPr>
          <p:cNvPr id="8" name="Shape 6"/>
          <p:cNvSpPr/>
          <p:nvPr/>
        </p:nvSpPr>
        <p:spPr>
          <a:xfrm>
            <a:off x="658368" y="1362456"/>
            <a:ext cx="10853928" cy="493776"/>
          </a:xfrm>
          <a:prstGeom prst="rect">
            <a:avLst/>
          </a:prstGeom>
          <a:solidFill>
            <a:srgbClr val="142B46"/>
          </a:solidFill>
          <a:ln w="12700">
            <a:solidFill>
              <a:srgbClr val="142B46">
                <a:alpha val="0"/>
              </a:srgbClr>
            </a:solidFill>
            <a:prstDash val="solid"/>
          </a:ln>
        </p:spPr>
      </p:sp>
      <p:sp>
        <p:nvSpPr>
          <p:cNvPr id="9" name="Text 7"/>
          <p:cNvSpPr/>
          <p:nvPr/>
        </p:nvSpPr>
        <p:spPr>
          <a:xfrm>
            <a:off x="832104" y="1481328"/>
            <a:ext cx="4572000" cy="237744"/>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Driver</a:t>
            </a:r>
            <a:endParaRPr lang="en-US" sz="1500" dirty="0"/>
          </a:p>
        </p:txBody>
      </p:sp>
      <p:sp>
        <p:nvSpPr>
          <p:cNvPr id="10" name="Text 8"/>
          <p:cNvSpPr/>
          <p:nvPr/>
        </p:nvSpPr>
        <p:spPr>
          <a:xfrm>
            <a:off x="5760720" y="1481328"/>
            <a:ext cx="1188720" cy="237744"/>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2026E</a:t>
            </a:r>
            <a:endParaRPr lang="en-US" sz="1500" dirty="0"/>
          </a:p>
        </p:txBody>
      </p:sp>
      <p:sp>
        <p:nvSpPr>
          <p:cNvPr id="11" name="Text 9"/>
          <p:cNvSpPr/>
          <p:nvPr/>
        </p:nvSpPr>
        <p:spPr>
          <a:xfrm>
            <a:off x="7470648" y="1481328"/>
            <a:ext cx="1188720" cy="237744"/>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2027E</a:t>
            </a:r>
            <a:endParaRPr lang="en-US" sz="1500" dirty="0"/>
          </a:p>
        </p:txBody>
      </p:sp>
      <p:sp>
        <p:nvSpPr>
          <p:cNvPr id="12" name="Text 10"/>
          <p:cNvSpPr/>
          <p:nvPr/>
        </p:nvSpPr>
        <p:spPr>
          <a:xfrm>
            <a:off x="9180576" y="1481328"/>
            <a:ext cx="1188720" cy="237744"/>
          </a:xfrm>
          <a:prstGeom prst="rect">
            <a:avLst/>
          </a:prstGeom>
          <a:noFill/>
          <a:ln/>
        </p:spPr>
        <p:txBody>
          <a:bodyPr wrap="square" lIns="0" tIns="0" rIns="0" bIns="0" rtlCol="0" anchor="ctr">
            <a:normAutofit/>
          </a:bodyPr>
          <a:lstStyle/>
          <a:p>
            <a:pPr indent="0" marL="0">
              <a:buNone/>
            </a:pPr>
            <a:r>
              <a:rPr lang="en-US" sz="1500" b="1" dirty="0">
                <a:solidFill>
                  <a:srgbClr val="FFFFFF"/>
                </a:solidFill>
                <a:latin typeface="Aptos" pitchFamily="34" charset="0"/>
                <a:ea typeface="Aptos" pitchFamily="34" charset="-122"/>
                <a:cs typeface="Aptos" pitchFamily="34" charset="-120"/>
              </a:rPr>
              <a:t>2028E</a:t>
            </a:r>
            <a:endParaRPr lang="en-US" sz="1500" dirty="0"/>
          </a:p>
        </p:txBody>
      </p:sp>
      <p:sp>
        <p:nvSpPr>
          <p:cNvPr id="13" name="Shape 11"/>
          <p:cNvSpPr/>
          <p:nvPr/>
        </p:nvSpPr>
        <p:spPr>
          <a:xfrm>
            <a:off x="658368" y="1892808"/>
            <a:ext cx="10853928" cy="438912"/>
          </a:xfrm>
          <a:prstGeom prst="rect">
            <a:avLst/>
          </a:prstGeom>
          <a:solidFill>
            <a:srgbClr val="EEF3F8"/>
          </a:solidFill>
          <a:ln w="12700">
            <a:solidFill>
              <a:srgbClr val="EEF3F8">
                <a:alpha val="0"/>
              </a:srgbClr>
            </a:solidFill>
            <a:prstDash val="solid"/>
          </a:ln>
        </p:spPr>
      </p:sp>
      <p:sp>
        <p:nvSpPr>
          <p:cNvPr id="14" name="Text 12"/>
          <p:cNvSpPr/>
          <p:nvPr/>
        </p:nvSpPr>
        <p:spPr>
          <a:xfrm>
            <a:off x="822960" y="1965960"/>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Capacity (ASM)</a:t>
            </a:r>
            <a:endParaRPr lang="en-US" sz="1400" dirty="0"/>
          </a:p>
        </p:txBody>
      </p:sp>
      <p:sp>
        <p:nvSpPr>
          <p:cNvPr id="15" name="Text 13"/>
          <p:cNvSpPr/>
          <p:nvPr/>
        </p:nvSpPr>
        <p:spPr>
          <a:xfrm>
            <a:off x="5760720" y="1965960"/>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16" name="Text 14"/>
          <p:cNvSpPr/>
          <p:nvPr/>
        </p:nvSpPr>
        <p:spPr>
          <a:xfrm>
            <a:off x="7470648" y="1965960"/>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17" name="Text 15"/>
          <p:cNvSpPr/>
          <p:nvPr/>
        </p:nvSpPr>
        <p:spPr>
          <a:xfrm>
            <a:off x="9180576" y="1965960"/>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2.8%</a:t>
            </a:r>
            <a:endParaRPr lang="en-US" sz="1400" dirty="0"/>
          </a:p>
        </p:txBody>
      </p:sp>
      <p:sp>
        <p:nvSpPr>
          <p:cNvPr id="18" name="Text 16"/>
          <p:cNvSpPr/>
          <p:nvPr/>
        </p:nvSpPr>
        <p:spPr>
          <a:xfrm>
            <a:off x="822960" y="2404872"/>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Passenger yield / ASM</a:t>
            </a:r>
            <a:endParaRPr lang="en-US" sz="1400" dirty="0"/>
          </a:p>
        </p:txBody>
      </p:sp>
      <p:sp>
        <p:nvSpPr>
          <p:cNvPr id="19" name="Text 17"/>
          <p:cNvSpPr/>
          <p:nvPr/>
        </p:nvSpPr>
        <p:spPr>
          <a:xfrm>
            <a:off x="5760720" y="2404872"/>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0.5%</a:t>
            </a:r>
            <a:endParaRPr lang="en-US" sz="1400" dirty="0"/>
          </a:p>
        </p:txBody>
      </p:sp>
      <p:sp>
        <p:nvSpPr>
          <p:cNvPr id="20" name="Text 18"/>
          <p:cNvSpPr/>
          <p:nvPr/>
        </p:nvSpPr>
        <p:spPr>
          <a:xfrm>
            <a:off x="7470648" y="2404872"/>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1.0%</a:t>
            </a:r>
            <a:endParaRPr lang="en-US" sz="1400" dirty="0"/>
          </a:p>
        </p:txBody>
      </p:sp>
      <p:sp>
        <p:nvSpPr>
          <p:cNvPr id="21" name="Text 19"/>
          <p:cNvSpPr/>
          <p:nvPr/>
        </p:nvSpPr>
        <p:spPr>
          <a:xfrm>
            <a:off x="9180576" y="2404872"/>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1.0%</a:t>
            </a:r>
            <a:endParaRPr lang="en-US" sz="1400" dirty="0"/>
          </a:p>
        </p:txBody>
      </p:sp>
      <p:sp>
        <p:nvSpPr>
          <p:cNvPr id="22" name="Shape 20"/>
          <p:cNvSpPr/>
          <p:nvPr/>
        </p:nvSpPr>
        <p:spPr>
          <a:xfrm>
            <a:off x="658368" y="2770632"/>
            <a:ext cx="10853928" cy="438912"/>
          </a:xfrm>
          <a:prstGeom prst="rect">
            <a:avLst/>
          </a:prstGeom>
          <a:solidFill>
            <a:srgbClr val="EEF3F8"/>
          </a:solidFill>
          <a:ln w="12700">
            <a:solidFill>
              <a:srgbClr val="EEF3F8">
                <a:alpha val="0"/>
              </a:srgbClr>
            </a:solidFill>
            <a:prstDash val="solid"/>
          </a:ln>
        </p:spPr>
      </p:sp>
      <p:sp>
        <p:nvSpPr>
          <p:cNvPr id="23" name="Text 21"/>
          <p:cNvSpPr/>
          <p:nvPr/>
        </p:nvSpPr>
        <p:spPr>
          <a:xfrm>
            <a:off x="822960" y="2843784"/>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Cargo revenue growth</a:t>
            </a:r>
            <a:endParaRPr lang="en-US" sz="1400" dirty="0"/>
          </a:p>
        </p:txBody>
      </p:sp>
      <p:sp>
        <p:nvSpPr>
          <p:cNvPr id="24" name="Text 22"/>
          <p:cNvSpPr/>
          <p:nvPr/>
        </p:nvSpPr>
        <p:spPr>
          <a:xfrm>
            <a:off x="5760720" y="2843784"/>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25" name="Text 23"/>
          <p:cNvSpPr/>
          <p:nvPr/>
        </p:nvSpPr>
        <p:spPr>
          <a:xfrm>
            <a:off x="7470648" y="2843784"/>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26" name="Text 24"/>
          <p:cNvSpPr/>
          <p:nvPr/>
        </p:nvSpPr>
        <p:spPr>
          <a:xfrm>
            <a:off x="9180576" y="2843784"/>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27" name="Text 25"/>
          <p:cNvSpPr/>
          <p:nvPr/>
        </p:nvSpPr>
        <p:spPr>
          <a:xfrm>
            <a:off x="822960" y="3282696"/>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Other revenue growth</a:t>
            </a:r>
            <a:endParaRPr lang="en-US" sz="1400" dirty="0"/>
          </a:p>
        </p:txBody>
      </p:sp>
      <p:sp>
        <p:nvSpPr>
          <p:cNvPr id="28" name="Text 26"/>
          <p:cNvSpPr/>
          <p:nvPr/>
        </p:nvSpPr>
        <p:spPr>
          <a:xfrm>
            <a:off x="5760720" y="3282696"/>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4.0%</a:t>
            </a:r>
            <a:endParaRPr lang="en-US" sz="1400" dirty="0"/>
          </a:p>
        </p:txBody>
      </p:sp>
      <p:sp>
        <p:nvSpPr>
          <p:cNvPr id="29" name="Text 27"/>
          <p:cNvSpPr/>
          <p:nvPr/>
        </p:nvSpPr>
        <p:spPr>
          <a:xfrm>
            <a:off x="7470648" y="3282696"/>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4.0%</a:t>
            </a:r>
            <a:endParaRPr lang="en-US" sz="1400" dirty="0"/>
          </a:p>
        </p:txBody>
      </p:sp>
      <p:sp>
        <p:nvSpPr>
          <p:cNvPr id="30" name="Text 28"/>
          <p:cNvSpPr/>
          <p:nvPr/>
        </p:nvSpPr>
        <p:spPr>
          <a:xfrm>
            <a:off x="9180576" y="3282696"/>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4.0%</a:t>
            </a:r>
            <a:endParaRPr lang="en-US" sz="1400" dirty="0"/>
          </a:p>
        </p:txBody>
      </p:sp>
      <p:sp>
        <p:nvSpPr>
          <p:cNvPr id="31" name="Shape 29"/>
          <p:cNvSpPr/>
          <p:nvPr/>
        </p:nvSpPr>
        <p:spPr>
          <a:xfrm>
            <a:off x="658368" y="3648456"/>
            <a:ext cx="10853928" cy="438912"/>
          </a:xfrm>
          <a:prstGeom prst="rect">
            <a:avLst/>
          </a:prstGeom>
          <a:solidFill>
            <a:srgbClr val="EEF3F8"/>
          </a:solidFill>
          <a:ln w="12700">
            <a:solidFill>
              <a:srgbClr val="EEF3F8">
                <a:alpha val="0"/>
              </a:srgbClr>
            </a:solidFill>
            <a:prstDash val="solid"/>
          </a:ln>
        </p:spPr>
      </p:sp>
      <p:sp>
        <p:nvSpPr>
          <p:cNvPr id="32" name="Text 30"/>
          <p:cNvSpPr/>
          <p:nvPr/>
        </p:nvSpPr>
        <p:spPr>
          <a:xfrm>
            <a:off x="822960" y="3721608"/>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Fuel efficiency gain</a:t>
            </a:r>
            <a:endParaRPr lang="en-US" sz="1400" dirty="0"/>
          </a:p>
        </p:txBody>
      </p:sp>
      <p:sp>
        <p:nvSpPr>
          <p:cNvPr id="33" name="Text 31"/>
          <p:cNvSpPr/>
          <p:nvPr/>
        </p:nvSpPr>
        <p:spPr>
          <a:xfrm>
            <a:off x="5760720" y="3721608"/>
            <a:ext cx="1097280" cy="274320"/>
          </a:xfrm>
          <a:prstGeom prst="rect">
            <a:avLst/>
          </a:prstGeom>
          <a:noFill/>
          <a:ln/>
        </p:spPr>
        <p:txBody>
          <a:bodyPr wrap="square" lIns="0" tIns="0" rIns="0" bIns="0" rtlCol="0" anchor="ctr">
            <a:normAutofit/>
          </a:bodyPr>
          <a:lstStyle/>
          <a:p>
            <a:pPr indent="0" marL="0">
              <a:buNone/>
            </a:pPr>
            <a:r>
              <a:rPr lang="en-US" sz="1400" b="1" dirty="0">
                <a:solidFill>
                  <a:srgbClr val="267A62"/>
                </a:solidFill>
                <a:latin typeface="Aptos" pitchFamily="34" charset="0"/>
                <a:ea typeface="Aptos" pitchFamily="34" charset="-122"/>
                <a:cs typeface="Aptos" pitchFamily="34" charset="-120"/>
              </a:rPr>
              <a:t>0.5%</a:t>
            </a:r>
            <a:endParaRPr lang="en-US" sz="1400" dirty="0"/>
          </a:p>
        </p:txBody>
      </p:sp>
      <p:sp>
        <p:nvSpPr>
          <p:cNvPr id="34" name="Text 32"/>
          <p:cNvSpPr/>
          <p:nvPr/>
        </p:nvSpPr>
        <p:spPr>
          <a:xfrm>
            <a:off x="7470648" y="3721608"/>
            <a:ext cx="1097280" cy="274320"/>
          </a:xfrm>
          <a:prstGeom prst="rect">
            <a:avLst/>
          </a:prstGeom>
          <a:noFill/>
          <a:ln/>
        </p:spPr>
        <p:txBody>
          <a:bodyPr wrap="square" lIns="0" tIns="0" rIns="0" bIns="0" rtlCol="0" anchor="ctr">
            <a:normAutofit/>
          </a:bodyPr>
          <a:lstStyle/>
          <a:p>
            <a:pPr indent="0" marL="0">
              <a:buNone/>
            </a:pPr>
            <a:r>
              <a:rPr lang="en-US" sz="1400" b="1" dirty="0">
                <a:solidFill>
                  <a:srgbClr val="267A62"/>
                </a:solidFill>
                <a:latin typeface="Aptos" pitchFamily="34" charset="0"/>
                <a:ea typeface="Aptos" pitchFamily="34" charset="-122"/>
                <a:cs typeface="Aptos" pitchFamily="34" charset="-120"/>
              </a:rPr>
              <a:t>0.5%</a:t>
            </a:r>
            <a:endParaRPr lang="en-US" sz="1400" dirty="0"/>
          </a:p>
        </p:txBody>
      </p:sp>
      <p:sp>
        <p:nvSpPr>
          <p:cNvPr id="35" name="Text 33"/>
          <p:cNvSpPr/>
          <p:nvPr/>
        </p:nvSpPr>
        <p:spPr>
          <a:xfrm>
            <a:off x="9180576" y="3721608"/>
            <a:ext cx="1097280" cy="274320"/>
          </a:xfrm>
          <a:prstGeom prst="rect">
            <a:avLst/>
          </a:prstGeom>
          <a:noFill/>
          <a:ln/>
        </p:spPr>
        <p:txBody>
          <a:bodyPr wrap="square" lIns="0" tIns="0" rIns="0" bIns="0" rtlCol="0" anchor="ctr">
            <a:normAutofit/>
          </a:bodyPr>
          <a:lstStyle/>
          <a:p>
            <a:pPr indent="0" marL="0">
              <a:buNone/>
            </a:pPr>
            <a:r>
              <a:rPr lang="en-US" sz="1400" b="1" dirty="0">
                <a:solidFill>
                  <a:srgbClr val="267A62"/>
                </a:solidFill>
                <a:latin typeface="Aptos" pitchFamily="34" charset="0"/>
                <a:ea typeface="Aptos" pitchFamily="34" charset="-122"/>
                <a:cs typeface="Aptos" pitchFamily="34" charset="-120"/>
              </a:rPr>
              <a:t>0.5%</a:t>
            </a:r>
            <a:endParaRPr lang="en-US" sz="1400" dirty="0"/>
          </a:p>
        </p:txBody>
      </p:sp>
      <p:sp>
        <p:nvSpPr>
          <p:cNvPr id="36" name="Text 34"/>
          <p:cNvSpPr/>
          <p:nvPr/>
        </p:nvSpPr>
        <p:spPr>
          <a:xfrm>
            <a:off x="822960" y="4160520"/>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Fuel price inflation</a:t>
            </a:r>
            <a:endParaRPr lang="en-US" sz="1400" dirty="0"/>
          </a:p>
        </p:txBody>
      </p:sp>
      <p:sp>
        <p:nvSpPr>
          <p:cNvPr id="37" name="Text 35"/>
          <p:cNvSpPr/>
          <p:nvPr/>
        </p:nvSpPr>
        <p:spPr>
          <a:xfrm>
            <a:off x="5760720" y="4160520"/>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0.0%</a:t>
            </a:r>
            <a:endParaRPr lang="en-US" sz="1400" dirty="0"/>
          </a:p>
        </p:txBody>
      </p:sp>
      <p:sp>
        <p:nvSpPr>
          <p:cNvPr id="38" name="Text 36"/>
          <p:cNvSpPr/>
          <p:nvPr/>
        </p:nvSpPr>
        <p:spPr>
          <a:xfrm>
            <a:off x="7470648" y="4160520"/>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2.0%</a:t>
            </a:r>
            <a:endParaRPr lang="en-US" sz="1400" dirty="0"/>
          </a:p>
        </p:txBody>
      </p:sp>
      <p:sp>
        <p:nvSpPr>
          <p:cNvPr id="39" name="Text 37"/>
          <p:cNvSpPr/>
          <p:nvPr/>
        </p:nvSpPr>
        <p:spPr>
          <a:xfrm>
            <a:off x="9180576" y="4160520"/>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2.0%</a:t>
            </a:r>
            <a:endParaRPr lang="en-US" sz="1400" dirty="0"/>
          </a:p>
        </p:txBody>
      </p:sp>
      <p:sp>
        <p:nvSpPr>
          <p:cNvPr id="40" name="Shape 38"/>
          <p:cNvSpPr/>
          <p:nvPr/>
        </p:nvSpPr>
        <p:spPr>
          <a:xfrm>
            <a:off x="658368" y="4526280"/>
            <a:ext cx="10853928" cy="438912"/>
          </a:xfrm>
          <a:prstGeom prst="rect">
            <a:avLst/>
          </a:prstGeom>
          <a:solidFill>
            <a:srgbClr val="EEF3F8"/>
          </a:solidFill>
          <a:ln w="12700">
            <a:solidFill>
              <a:srgbClr val="EEF3F8">
                <a:alpha val="0"/>
              </a:srgbClr>
            </a:solidFill>
            <a:prstDash val="solid"/>
          </a:ln>
        </p:spPr>
      </p:sp>
      <p:sp>
        <p:nvSpPr>
          <p:cNvPr id="41" name="Text 39"/>
          <p:cNvSpPr/>
          <p:nvPr/>
        </p:nvSpPr>
        <p:spPr>
          <a:xfrm>
            <a:off x="822960" y="4599432"/>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Labor cost/ASM inflation</a:t>
            </a:r>
            <a:endParaRPr lang="en-US" sz="1400" dirty="0"/>
          </a:p>
        </p:txBody>
      </p:sp>
      <p:sp>
        <p:nvSpPr>
          <p:cNvPr id="42" name="Text 40"/>
          <p:cNvSpPr/>
          <p:nvPr/>
        </p:nvSpPr>
        <p:spPr>
          <a:xfrm>
            <a:off x="5760720" y="4599432"/>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43" name="Text 41"/>
          <p:cNvSpPr/>
          <p:nvPr/>
        </p:nvSpPr>
        <p:spPr>
          <a:xfrm>
            <a:off x="7470648" y="4599432"/>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44" name="Text 42"/>
          <p:cNvSpPr/>
          <p:nvPr/>
        </p:nvSpPr>
        <p:spPr>
          <a:xfrm>
            <a:off x="9180576" y="4599432"/>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3.0%</a:t>
            </a:r>
            <a:endParaRPr lang="en-US" sz="1400" dirty="0"/>
          </a:p>
        </p:txBody>
      </p:sp>
      <p:sp>
        <p:nvSpPr>
          <p:cNvPr id="45" name="Text 43"/>
          <p:cNvSpPr/>
          <p:nvPr/>
        </p:nvSpPr>
        <p:spPr>
          <a:xfrm>
            <a:off x="822960" y="5038344"/>
            <a:ext cx="4572000" cy="274320"/>
          </a:xfrm>
          <a:prstGeom prst="rect">
            <a:avLst/>
          </a:prstGeom>
          <a:noFill/>
          <a:ln/>
        </p:spPr>
        <p:txBody>
          <a:bodyPr wrap="square" lIns="0" tIns="0" rIns="0" bIns="0" rtlCol="0" anchor="ctr">
            <a:normAutofit/>
          </a:bodyPr>
          <a:lstStyle/>
          <a:p>
            <a:pPr indent="0" marL="0">
              <a:buNone/>
            </a:pPr>
            <a:r>
              <a:rPr lang="en-US" sz="1400" dirty="0">
                <a:solidFill>
                  <a:srgbClr val="192C41"/>
                </a:solidFill>
                <a:latin typeface="Aptos" pitchFamily="34" charset="0"/>
                <a:ea typeface="Aptos" pitchFamily="34" charset="-122"/>
                <a:cs typeface="Aptos" pitchFamily="34" charset="-120"/>
              </a:rPr>
              <a:t>Other cost/ASM inflation</a:t>
            </a:r>
            <a:endParaRPr lang="en-US" sz="1400" dirty="0"/>
          </a:p>
        </p:txBody>
      </p:sp>
      <p:sp>
        <p:nvSpPr>
          <p:cNvPr id="46" name="Text 44"/>
          <p:cNvSpPr/>
          <p:nvPr/>
        </p:nvSpPr>
        <p:spPr>
          <a:xfrm>
            <a:off x="5760720" y="5038344"/>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2.0%</a:t>
            </a:r>
            <a:endParaRPr lang="en-US" sz="1400" dirty="0"/>
          </a:p>
        </p:txBody>
      </p:sp>
      <p:sp>
        <p:nvSpPr>
          <p:cNvPr id="47" name="Text 45"/>
          <p:cNvSpPr/>
          <p:nvPr/>
        </p:nvSpPr>
        <p:spPr>
          <a:xfrm>
            <a:off x="7470648" y="5038344"/>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2.0%</a:t>
            </a:r>
            <a:endParaRPr lang="en-US" sz="1400" dirty="0"/>
          </a:p>
        </p:txBody>
      </p:sp>
      <p:sp>
        <p:nvSpPr>
          <p:cNvPr id="48" name="Text 46"/>
          <p:cNvSpPr/>
          <p:nvPr/>
        </p:nvSpPr>
        <p:spPr>
          <a:xfrm>
            <a:off x="9180576" y="5038344"/>
            <a:ext cx="1097280" cy="274320"/>
          </a:xfrm>
          <a:prstGeom prst="rect">
            <a:avLst/>
          </a:prstGeom>
          <a:noFill/>
          <a:ln/>
        </p:spPr>
        <p:txBody>
          <a:bodyPr wrap="square" lIns="0" tIns="0" rIns="0" bIns="0" rtlCol="0" anchor="ctr">
            <a:normAutofit/>
          </a:bodyPr>
          <a:lstStyle/>
          <a:p>
            <a:pPr indent="0" marL="0">
              <a:buNone/>
            </a:pPr>
            <a:r>
              <a:rPr lang="en-US" sz="1400" b="1" dirty="0">
                <a:solidFill>
                  <a:srgbClr val="245079"/>
                </a:solidFill>
                <a:latin typeface="Aptos" pitchFamily="34" charset="0"/>
                <a:ea typeface="Aptos" pitchFamily="34" charset="-122"/>
                <a:cs typeface="Aptos" pitchFamily="34" charset="-120"/>
              </a:rPr>
              <a:t>2.0%</a:t>
            </a:r>
            <a:endParaRPr lang="en-US" sz="1400" dirty="0"/>
          </a:p>
        </p:txBody>
      </p:sp>
      <p:sp>
        <p:nvSpPr>
          <p:cNvPr id="49" name="Text 47"/>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All figures shown above are independent student assumptions, not official Delta guidance or internal budget</a:t>
            </a:r>
            <a:endParaRPr lang="en-US" sz="9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Hypothetical Scenario: Revenues Grow, EBIT Falls</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FY2025 actual  →  FY2026–FY2028 student planning case</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08</a:t>
            </a:r>
            <a:endParaRPr lang="en-US" sz="900" dirty="0"/>
          </a:p>
        </p:txBody>
      </p:sp>
      <p:pic>
        <p:nvPicPr>
          <p:cNvPr id="8" name="Image 0" descr="/mnt/data/delta-air-lines-fpa-forecasting/charts/forecast_revenue_ebit.png">    </p:cNvPr>
          <p:cNvPicPr>
            <a:picLocks noChangeAspect="1"/>
          </p:cNvPicPr>
          <p:nvPr/>
        </p:nvPicPr>
        <p:blipFill>
          <a:blip r:embed="rId1"/>
          <a:stretch>
            <a:fillRect/>
          </a:stretch>
        </p:blipFill>
        <p:spPr>
          <a:xfrm>
            <a:off x="576072" y="1179576"/>
            <a:ext cx="8549640" cy="4206240"/>
          </a:xfrm>
          <a:prstGeom prst="rect">
            <a:avLst/>
          </a:prstGeom>
        </p:spPr>
      </p:pic>
      <p:sp>
        <p:nvSpPr>
          <p:cNvPr id="9" name="Shape 6"/>
          <p:cNvSpPr/>
          <p:nvPr/>
        </p:nvSpPr>
        <p:spPr>
          <a:xfrm>
            <a:off x="9180576" y="1307592"/>
            <a:ext cx="2304288" cy="1527048"/>
          </a:xfrm>
          <a:prstGeom prst="roundRect">
            <a:avLst/>
          </a:prstGeom>
          <a:solidFill>
            <a:srgbClr val="EEF3F8"/>
          </a:solidFill>
          <a:ln w="12700">
            <a:solidFill>
              <a:srgbClr val="EEF3F8">
                <a:alpha val="0"/>
              </a:srgbClr>
            </a:solidFill>
            <a:prstDash val="solid"/>
          </a:ln>
        </p:spPr>
      </p:sp>
      <p:sp>
        <p:nvSpPr>
          <p:cNvPr id="10" name="Shape 7"/>
          <p:cNvSpPr/>
          <p:nvPr/>
        </p:nvSpPr>
        <p:spPr>
          <a:xfrm>
            <a:off x="9180576" y="1307592"/>
            <a:ext cx="77724" cy="1527048"/>
          </a:xfrm>
          <a:prstGeom prst="rect">
            <a:avLst/>
          </a:prstGeom>
          <a:solidFill>
            <a:srgbClr val="C51F36"/>
          </a:solidFill>
          <a:ln w="12700">
            <a:solidFill>
              <a:srgbClr val="C51F36">
                <a:alpha val="0"/>
              </a:srgbClr>
            </a:solidFill>
            <a:prstDash val="solid"/>
          </a:ln>
        </p:spPr>
      </p:sp>
      <p:sp>
        <p:nvSpPr>
          <p:cNvPr id="11" name="Text 8"/>
          <p:cNvSpPr/>
          <p:nvPr/>
        </p:nvSpPr>
        <p:spPr>
          <a:xfrm>
            <a:off x="9381744" y="1490472"/>
            <a:ext cx="1956816" cy="301752"/>
          </a:xfrm>
          <a:prstGeom prst="rect">
            <a:avLst/>
          </a:prstGeom>
          <a:noFill/>
          <a:ln/>
        </p:spPr>
        <p:txBody>
          <a:bodyPr wrap="square" lIns="0" tIns="0" rIns="0" bIns="0" rtlCol="0" anchor="ctr">
            <a:normAutofit/>
          </a:bodyPr>
          <a:lstStyle/>
          <a:p>
            <a:pPr indent="0" marL="0">
              <a:buNone/>
            </a:pPr>
            <a:r>
              <a:rPr lang="en-US" sz="1800" b="1" dirty="0">
                <a:solidFill>
                  <a:srgbClr val="C51F36"/>
                </a:solidFill>
                <a:latin typeface="Aptos" pitchFamily="34" charset="0"/>
                <a:ea typeface="Aptos" pitchFamily="34" charset="-122"/>
                <a:cs typeface="Aptos" pitchFamily="34" charset="-120"/>
              </a:rPr>
              <a:t>2026E EBIT</a:t>
            </a:r>
            <a:endParaRPr lang="en-US" sz="1800" dirty="0"/>
          </a:p>
        </p:txBody>
      </p:sp>
      <p:sp>
        <p:nvSpPr>
          <p:cNvPr id="12" name="Text 9"/>
          <p:cNvSpPr/>
          <p:nvPr/>
        </p:nvSpPr>
        <p:spPr>
          <a:xfrm>
            <a:off x="9381744" y="1856232"/>
            <a:ext cx="1911096" cy="813816"/>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$5.26B</a:t>
            </a:r>
            <a:endParaRPr lang="en-US" sz="1400" dirty="0"/>
          </a:p>
          <a:p>
            <a:pPr indent="0" marL="0">
              <a:buNone/>
            </a:pPr>
            <a:r>
              <a:rPr lang="en-US" sz="1400" dirty="0">
                <a:solidFill>
                  <a:srgbClr val="192C41"/>
                </a:solidFill>
                <a:latin typeface="Aptos" pitchFamily="34" charset="0"/>
                <a:ea typeface="Aptos" pitchFamily="34" charset="-122"/>
                <a:cs typeface="Aptos" pitchFamily="34" charset="-120"/>
              </a:rPr>
              <a:t>8.0% operating margin</a:t>
            </a:r>
            <a:endParaRPr lang="en-US" sz="1400" dirty="0"/>
          </a:p>
        </p:txBody>
      </p:sp>
      <p:sp>
        <p:nvSpPr>
          <p:cNvPr id="13" name="Shape 10"/>
          <p:cNvSpPr/>
          <p:nvPr/>
        </p:nvSpPr>
        <p:spPr>
          <a:xfrm>
            <a:off x="9180576" y="3136392"/>
            <a:ext cx="2304288" cy="1545336"/>
          </a:xfrm>
          <a:prstGeom prst="roundRect">
            <a:avLst/>
          </a:prstGeom>
          <a:solidFill>
            <a:srgbClr val="EEF3F8"/>
          </a:solidFill>
          <a:ln w="12700">
            <a:solidFill>
              <a:srgbClr val="EEF3F8">
                <a:alpha val="0"/>
              </a:srgbClr>
            </a:solidFill>
            <a:prstDash val="solid"/>
          </a:ln>
        </p:spPr>
      </p:sp>
      <p:sp>
        <p:nvSpPr>
          <p:cNvPr id="14" name="Shape 11"/>
          <p:cNvSpPr/>
          <p:nvPr/>
        </p:nvSpPr>
        <p:spPr>
          <a:xfrm>
            <a:off x="9180576" y="3136392"/>
            <a:ext cx="77724" cy="1545336"/>
          </a:xfrm>
          <a:prstGeom prst="rect">
            <a:avLst/>
          </a:prstGeom>
          <a:solidFill>
            <a:srgbClr val="142B46"/>
          </a:solidFill>
          <a:ln w="12700">
            <a:solidFill>
              <a:srgbClr val="142B46">
                <a:alpha val="0"/>
              </a:srgbClr>
            </a:solidFill>
            <a:prstDash val="solid"/>
          </a:ln>
        </p:spPr>
      </p:sp>
      <p:sp>
        <p:nvSpPr>
          <p:cNvPr id="15" name="Text 12"/>
          <p:cNvSpPr/>
          <p:nvPr/>
        </p:nvSpPr>
        <p:spPr>
          <a:xfrm>
            <a:off x="9381744" y="3319272"/>
            <a:ext cx="1956816"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MAIN QUESTION</a:t>
            </a:r>
            <a:endParaRPr lang="en-US" sz="1800" dirty="0"/>
          </a:p>
        </p:txBody>
      </p:sp>
      <p:sp>
        <p:nvSpPr>
          <p:cNvPr id="16" name="Text 13"/>
          <p:cNvSpPr/>
          <p:nvPr/>
        </p:nvSpPr>
        <p:spPr>
          <a:xfrm>
            <a:off x="9381744" y="3685032"/>
            <a:ext cx="1911096" cy="832104"/>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Can passenger yield cover unit-cost inflation?</a:t>
            </a:r>
            <a:endParaRPr lang="en-US" sz="1400" dirty="0"/>
          </a:p>
        </p:txBody>
      </p:sp>
      <p:sp>
        <p:nvSpPr>
          <p:cNvPr id="17" name="Text 14"/>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FY2025 actual from SEC Form 10-K; 2026E–2028E hypothetical what-if calculations, NOT guidance</a:t>
            </a:r>
            <a:endParaRPr lang="en-US" sz="9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2026 EBIT Sensitivity  |  Fuel Price × Yield</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Standalone one-year profit what-if  ·  USD millions</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09</a:t>
            </a:r>
            <a:endParaRPr lang="en-US" sz="900" dirty="0"/>
          </a:p>
        </p:txBody>
      </p:sp>
      <p:sp>
        <p:nvSpPr>
          <p:cNvPr id="8" name="Text 6"/>
          <p:cNvSpPr/>
          <p:nvPr/>
        </p:nvSpPr>
        <p:spPr>
          <a:xfrm>
            <a:off x="731520" y="1124712"/>
            <a:ext cx="4572000" cy="274320"/>
          </a:xfrm>
          <a:prstGeom prst="rect">
            <a:avLst/>
          </a:prstGeom>
          <a:noFill/>
          <a:ln/>
        </p:spPr>
        <p:txBody>
          <a:bodyPr wrap="square" lIns="0" tIns="0" rIns="0" bIns="0" rtlCol="0" anchor="ctr">
            <a:normAutofit/>
          </a:bodyPr>
          <a:lstStyle/>
          <a:p>
            <a:pPr indent="0" marL="0">
              <a:buNone/>
            </a:pPr>
            <a:r>
              <a:rPr lang="en-US" sz="1600" b="1" dirty="0">
                <a:solidFill>
                  <a:srgbClr val="245079"/>
                </a:solidFill>
                <a:latin typeface="Aptos" pitchFamily="34" charset="0"/>
                <a:ea typeface="Aptos" pitchFamily="34" charset="-122"/>
                <a:cs typeface="Aptos" pitchFamily="34" charset="-120"/>
              </a:rPr>
              <a:t>Column: passenger-yield shock</a:t>
            </a:r>
            <a:endParaRPr lang="en-US" sz="1600" dirty="0"/>
          </a:p>
        </p:txBody>
      </p:sp>
      <p:sp>
        <p:nvSpPr>
          <p:cNvPr id="9" name="Shape 7"/>
          <p:cNvSpPr/>
          <p:nvPr/>
        </p:nvSpPr>
        <p:spPr>
          <a:xfrm>
            <a:off x="2468880" y="1627632"/>
            <a:ext cx="1527048" cy="612648"/>
          </a:xfrm>
          <a:prstGeom prst="roundRect">
            <a:avLst/>
          </a:prstGeom>
          <a:solidFill>
            <a:srgbClr val="142B46"/>
          </a:solidFill>
          <a:ln w="12700">
            <a:solidFill>
              <a:srgbClr val="142B46">
                <a:alpha val="0"/>
              </a:srgbClr>
            </a:solidFill>
            <a:prstDash val="solid"/>
          </a:ln>
        </p:spPr>
      </p:sp>
      <p:sp>
        <p:nvSpPr>
          <p:cNvPr id="10" name="Text 8"/>
          <p:cNvSpPr/>
          <p:nvPr/>
        </p:nvSpPr>
        <p:spPr>
          <a:xfrm>
            <a:off x="2468880" y="1746504"/>
            <a:ext cx="1527048" cy="29260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11" name="Shape 9"/>
          <p:cNvSpPr/>
          <p:nvPr/>
        </p:nvSpPr>
        <p:spPr>
          <a:xfrm>
            <a:off x="4069080" y="1627632"/>
            <a:ext cx="1527048" cy="612648"/>
          </a:xfrm>
          <a:prstGeom prst="roundRect">
            <a:avLst/>
          </a:prstGeom>
          <a:solidFill>
            <a:srgbClr val="142B46"/>
          </a:solidFill>
          <a:ln w="12700">
            <a:solidFill>
              <a:srgbClr val="142B46">
                <a:alpha val="0"/>
              </a:srgbClr>
            </a:solidFill>
            <a:prstDash val="solid"/>
          </a:ln>
        </p:spPr>
      </p:sp>
      <p:sp>
        <p:nvSpPr>
          <p:cNvPr id="12" name="Text 10"/>
          <p:cNvSpPr/>
          <p:nvPr/>
        </p:nvSpPr>
        <p:spPr>
          <a:xfrm>
            <a:off x="4069080" y="1746504"/>
            <a:ext cx="1527048" cy="29260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3" name="Shape 11"/>
          <p:cNvSpPr/>
          <p:nvPr/>
        </p:nvSpPr>
        <p:spPr>
          <a:xfrm>
            <a:off x="5669280" y="1627632"/>
            <a:ext cx="1527048" cy="612648"/>
          </a:xfrm>
          <a:prstGeom prst="roundRect">
            <a:avLst/>
          </a:prstGeom>
          <a:solidFill>
            <a:srgbClr val="142B46"/>
          </a:solidFill>
          <a:ln w="12700">
            <a:solidFill>
              <a:srgbClr val="142B46">
                <a:alpha val="0"/>
              </a:srgbClr>
            </a:solidFill>
            <a:prstDash val="solid"/>
          </a:ln>
        </p:spPr>
      </p:sp>
      <p:sp>
        <p:nvSpPr>
          <p:cNvPr id="14" name="Text 12"/>
          <p:cNvSpPr/>
          <p:nvPr/>
        </p:nvSpPr>
        <p:spPr>
          <a:xfrm>
            <a:off x="5669280" y="1746504"/>
            <a:ext cx="1527048" cy="29260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0%</a:t>
            </a:r>
            <a:endParaRPr lang="en-US" sz="1500" dirty="0"/>
          </a:p>
        </p:txBody>
      </p:sp>
      <p:sp>
        <p:nvSpPr>
          <p:cNvPr id="15" name="Shape 13"/>
          <p:cNvSpPr/>
          <p:nvPr/>
        </p:nvSpPr>
        <p:spPr>
          <a:xfrm>
            <a:off x="7269480" y="1627632"/>
            <a:ext cx="1527048" cy="612648"/>
          </a:xfrm>
          <a:prstGeom prst="roundRect">
            <a:avLst/>
          </a:prstGeom>
          <a:solidFill>
            <a:srgbClr val="142B46"/>
          </a:solidFill>
          <a:ln w="12700">
            <a:solidFill>
              <a:srgbClr val="142B46">
                <a:alpha val="0"/>
              </a:srgbClr>
            </a:solidFill>
            <a:prstDash val="solid"/>
          </a:ln>
        </p:spPr>
      </p:sp>
      <p:sp>
        <p:nvSpPr>
          <p:cNvPr id="16" name="Text 14"/>
          <p:cNvSpPr/>
          <p:nvPr/>
        </p:nvSpPr>
        <p:spPr>
          <a:xfrm>
            <a:off x="7269480" y="1746504"/>
            <a:ext cx="1527048" cy="29260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+2%</a:t>
            </a:r>
            <a:endParaRPr lang="en-US" sz="1500" dirty="0"/>
          </a:p>
        </p:txBody>
      </p:sp>
      <p:sp>
        <p:nvSpPr>
          <p:cNvPr id="17" name="Shape 15"/>
          <p:cNvSpPr/>
          <p:nvPr/>
        </p:nvSpPr>
        <p:spPr>
          <a:xfrm>
            <a:off x="8869680" y="1627632"/>
            <a:ext cx="1527048" cy="612648"/>
          </a:xfrm>
          <a:prstGeom prst="roundRect">
            <a:avLst/>
          </a:prstGeom>
          <a:solidFill>
            <a:srgbClr val="142B46"/>
          </a:solidFill>
          <a:ln w="12700">
            <a:solidFill>
              <a:srgbClr val="142B46">
                <a:alpha val="0"/>
              </a:srgbClr>
            </a:solidFill>
            <a:prstDash val="solid"/>
          </a:ln>
        </p:spPr>
      </p:sp>
      <p:sp>
        <p:nvSpPr>
          <p:cNvPr id="18" name="Text 16"/>
          <p:cNvSpPr/>
          <p:nvPr/>
        </p:nvSpPr>
        <p:spPr>
          <a:xfrm>
            <a:off x="8869680" y="1746504"/>
            <a:ext cx="1527048" cy="292608"/>
          </a:xfrm>
          <a:prstGeom prst="rect">
            <a:avLst/>
          </a:prstGeom>
          <a:noFill/>
          <a:ln/>
        </p:spPr>
        <p:txBody>
          <a:bodyPr wrap="square" lIns="0" tIns="0" rIns="0" bIns="0" rtlCol="0" anchor="ctr">
            <a:normAutofit/>
          </a:bodyPr>
          <a:lstStyle/>
          <a:p>
            <a:pPr algn="ctr" indent="0" marL="0">
              <a:buNone/>
            </a:pPr>
            <a:r>
              <a:rPr lang="en-US" sz="1500" b="1" dirty="0">
                <a:solidFill>
                  <a:srgbClr val="FFFFFF"/>
                </a:solidFill>
                <a:latin typeface="Aptos" pitchFamily="34" charset="0"/>
                <a:ea typeface="Aptos" pitchFamily="34" charset="-122"/>
                <a:cs typeface="Aptos" pitchFamily="34" charset="-120"/>
              </a:rPr>
              <a:t>+4%</a:t>
            </a:r>
            <a:endParaRPr lang="en-US" sz="1500" dirty="0"/>
          </a:p>
        </p:txBody>
      </p:sp>
      <p:sp>
        <p:nvSpPr>
          <p:cNvPr id="19" name="Text 17"/>
          <p:cNvSpPr/>
          <p:nvPr/>
        </p:nvSpPr>
        <p:spPr>
          <a:xfrm>
            <a:off x="877824" y="2423160"/>
            <a:ext cx="1417320" cy="274320"/>
          </a:xfrm>
          <a:prstGeom prst="rect">
            <a:avLst/>
          </a:prstGeom>
          <a:noFill/>
          <a:ln/>
        </p:spPr>
        <p:txBody>
          <a:bodyPr wrap="square" lIns="0" tIns="0" rIns="0" bIns="0" rtlCol="0" anchor="ctr">
            <a:normAutofit/>
          </a:bodyPr>
          <a:lstStyle/>
          <a:p>
            <a:pPr indent="0" marL="0">
              <a:buNone/>
            </a:pPr>
            <a:r>
              <a:rPr lang="en-US" sz="1500" b="1" dirty="0">
                <a:solidFill>
                  <a:srgbClr val="192C41"/>
                </a:solidFill>
                <a:latin typeface="Aptos" pitchFamily="34" charset="0"/>
                <a:ea typeface="Aptos" pitchFamily="34" charset="-122"/>
                <a:cs typeface="Aptos" pitchFamily="34" charset="-120"/>
              </a:rPr>
              <a:t>-20% fuel</a:t>
            </a:r>
            <a:endParaRPr lang="en-US" sz="1500" dirty="0"/>
          </a:p>
        </p:txBody>
      </p:sp>
      <p:sp>
        <p:nvSpPr>
          <p:cNvPr id="20" name="Shape 18"/>
          <p:cNvSpPr/>
          <p:nvPr/>
        </p:nvSpPr>
        <p:spPr>
          <a:xfrm>
            <a:off x="2468880" y="2313432"/>
            <a:ext cx="1527048" cy="612648"/>
          </a:xfrm>
          <a:prstGeom prst="roundRect">
            <a:avLst/>
          </a:prstGeom>
          <a:solidFill>
            <a:srgbClr val="EEF3F8"/>
          </a:solidFill>
          <a:ln w="12700">
            <a:solidFill>
              <a:srgbClr val="EEF3F8">
                <a:alpha val="0"/>
              </a:srgbClr>
            </a:solidFill>
            <a:prstDash val="solid"/>
          </a:ln>
        </p:spPr>
      </p:sp>
      <p:sp>
        <p:nvSpPr>
          <p:cNvPr id="21" name="Text 19"/>
          <p:cNvSpPr/>
          <p:nvPr/>
        </p:nvSpPr>
        <p:spPr>
          <a:xfrm>
            <a:off x="2514600" y="24597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5,126</a:t>
            </a:r>
            <a:endParaRPr lang="en-US" sz="1500" dirty="0"/>
          </a:p>
        </p:txBody>
      </p:sp>
      <p:sp>
        <p:nvSpPr>
          <p:cNvPr id="22" name="Shape 20"/>
          <p:cNvSpPr/>
          <p:nvPr/>
        </p:nvSpPr>
        <p:spPr>
          <a:xfrm>
            <a:off x="4069080" y="2313432"/>
            <a:ext cx="1527048" cy="612648"/>
          </a:xfrm>
          <a:prstGeom prst="roundRect">
            <a:avLst/>
          </a:prstGeom>
          <a:solidFill>
            <a:srgbClr val="EEF3F8"/>
          </a:solidFill>
          <a:ln w="12700">
            <a:solidFill>
              <a:srgbClr val="EEF3F8">
                <a:alpha val="0"/>
              </a:srgbClr>
            </a:solidFill>
            <a:prstDash val="solid"/>
          </a:ln>
        </p:spPr>
      </p:sp>
      <p:sp>
        <p:nvSpPr>
          <p:cNvPr id="23" name="Text 21"/>
          <p:cNvSpPr/>
          <p:nvPr/>
        </p:nvSpPr>
        <p:spPr>
          <a:xfrm>
            <a:off x="4114800" y="24597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6,198</a:t>
            </a:r>
            <a:endParaRPr lang="en-US" sz="1500" dirty="0"/>
          </a:p>
        </p:txBody>
      </p:sp>
      <p:sp>
        <p:nvSpPr>
          <p:cNvPr id="24" name="Shape 22"/>
          <p:cNvSpPr/>
          <p:nvPr/>
        </p:nvSpPr>
        <p:spPr>
          <a:xfrm>
            <a:off x="5669280" y="2313432"/>
            <a:ext cx="1527048" cy="612648"/>
          </a:xfrm>
          <a:prstGeom prst="roundRect">
            <a:avLst/>
          </a:prstGeom>
          <a:solidFill>
            <a:srgbClr val="E3F3EF"/>
          </a:solidFill>
          <a:ln w="12700">
            <a:solidFill>
              <a:srgbClr val="E3F3EF">
                <a:alpha val="0"/>
              </a:srgbClr>
            </a:solidFill>
            <a:prstDash val="solid"/>
          </a:ln>
        </p:spPr>
      </p:sp>
      <p:sp>
        <p:nvSpPr>
          <p:cNvPr id="25" name="Text 23"/>
          <p:cNvSpPr/>
          <p:nvPr/>
        </p:nvSpPr>
        <p:spPr>
          <a:xfrm>
            <a:off x="5715000" y="24597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7,270</a:t>
            </a:r>
            <a:endParaRPr lang="en-US" sz="1500" dirty="0"/>
          </a:p>
        </p:txBody>
      </p:sp>
      <p:sp>
        <p:nvSpPr>
          <p:cNvPr id="26" name="Shape 24"/>
          <p:cNvSpPr/>
          <p:nvPr/>
        </p:nvSpPr>
        <p:spPr>
          <a:xfrm>
            <a:off x="7269480" y="2313432"/>
            <a:ext cx="1527048" cy="612648"/>
          </a:xfrm>
          <a:prstGeom prst="roundRect">
            <a:avLst/>
          </a:prstGeom>
          <a:solidFill>
            <a:srgbClr val="E3F3EF"/>
          </a:solidFill>
          <a:ln w="12700">
            <a:solidFill>
              <a:srgbClr val="E3F3EF">
                <a:alpha val="0"/>
              </a:srgbClr>
            </a:solidFill>
            <a:prstDash val="solid"/>
          </a:ln>
        </p:spPr>
      </p:sp>
      <p:sp>
        <p:nvSpPr>
          <p:cNvPr id="27" name="Text 25"/>
          <p:cNvSpPr/>
          <p:nvPr/>
        </p:nvSpPr>
        <p:spPr>
          <a:xfrm>
            <a:off x="7315200" y="24597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8,342</a:t>
            </a:r>
            <a:endParaRPr lang="en-US" sz="1500" dirty="0"/>
          </a:p>
        </p:txBody>
      </p:sp>
      <p:sp>
        <p:nvSpPr>
          <p:cNvPr id="28" name="Shape 26"/>
          <p:cNvSpPr/>
          <p:nvPr/>
        </p:nvSpPr>
        <p:spPr>
          <a:xfrm>
            <a:off x="8869680" y="2313432"/>
            <a:ext cx="1527048" cy="612648"/>
          </a:xfrm>
          <a:prstGeom prst="roundRect">
            <a:avLst/>
          </a:prstGeom>
          <a:solidFill>
            <a:srgbClr val="E3F3EF"/>
          </a:solidFill>
          <a:ln w="12700">
            <a:solidFill>
              <a:srgbClr val="E3F3EF">
                <a:alpha val="0"/>
              </a:srgbClr>
            </a:solidFill>
            <a:prstDash val="solid"/>
          </a:ln>
        </p:spPr>
      </p:sp>
      <p:sp>
        <p:nvSpPr>
          <p:cNvPr id="29" name="Text 27"/>
          <p:cNvSpPr/>
          <p:nvPr/>
        </p:nvSpPr>
        <p:spPr>
          <a:xfrm>
            <a:off x="8915400" y="24597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9,413</a:t>
            </a:r>
            <a:endParaRPr lang="en-US" sz="1500" dirty="0"/>
          </a:p>
        </p:txBody>
      </p:sp>
      <p:sp>
        <p:nvSpPr>
          <p:cNvPr id="30" name="Text 28"/>
          <p:cNvSpPr/>
          <p:nvPr/>
        </p:nvSpPr>
        <p:spPr>
          <a:xfrm>
            <a:off x="877824" y="3108960"/>
            <a:ext cx="1417320" cy="274320"/>
          </a:xfrm>
          <a:prstGeom prst="rect">
            <a:avLst/>
          </a:prstGeom>
          <a:noFill/>
          <a:ln/>
        </p:spPr>
        <p:txBody>
          <a:bodyPr wrap="square" lIns="0" tIns="0" rIns="0" bIns="0" rtlCol="0" anchor="ctr">
            <a:normAutofit/>
          </a:bodyPr>
          <a:lstStyle/>
          <a:p>
            <a:pPr indent="0" marL="0">
              <a:buNone/>
            </a:pPr>
            <a:r>
              <a:rPr lang="en-US" sz="1500" b="1" dirty="0">
                <a:solidFill>
                  <a:srgbClr val="192C41"/>
                </a:solidFill>
                <a:latin typeface="Aptos" pitchFamily="34" charset="0"/>
                <a:ea typeface="Aptos" pitchFamily="34" charset="-122"/>
                <a:cs typeface="Aptos" pitchFamily="34" charset="-120"/>
              </a:rPr>
              <a:t>-10% fuel</a:t>
            </a:r>
            <a:endParaRPr lang="en-US" sz="1500" dirty="0"/>
          </a:p>
        </p:txBody>
      </p:sp>
      <p:sp>
        <p:nvSpPr>
          <p:cNvPr id="31" name="Shape 29"/>
          <p:cNvSpPr/>
          <p:nvPr/>
        </p:nvSpPr>
        <p:spPr>
          <a:xfrm>
            <a:off x="2468880" y="2999232"/>
            <a:ext cx="1527048" cy="612648"/>
          </a:xfrm>
          <a:prstGeom prst="roundRect">
            <a:avLst/>
          </a:prstGeom>
          <a:solidFill>
            <a:srgbClr val="F9E8EA"/>
          </a:solidFill>
          <a:ln w="12700">
            <a:solidFill>
              <a:srgbClr val="F9E8EA">
                <a:alpha val="0"/>
              </a:srgbClr>
            </a:solidFill>
            <a:prstDash val="solid"/>
          </a:ln>
        </p:spPr>
      </p:sp>
      <p:sp>
        <p:nvSpPr>
          <p:cNvPr id="32" name="Text 30"/>
          <p:cNvSpPr/>
          <p:nvPr/>
        </p:nvSpPr>
        <p:spPr>
          <a:xfrm>
            <a:off x="2514600" y="31455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4,120</a:t>
            </a:r>
            <a:endParaRPr lang="en-US" sz="1500" dirty="0"/>
          </a:p>
        </p:txBody>
      </p:sp>
      <p:sp>
        <p:nvSpPr>
          <p:cNvPr id="33" name="Shape 31"/>
          <p:cNvSpPr/>
          <p:nvPr/>
        </p:nvSpPr>
        <p:spPr>
          <a:xfrm>
            <a:off x="4069080" y="2999232"/>
            <a:ext cx="1527048" cy="612648"/>
          </a:xfrm>
          <a:prstGeom prst="roundRect">
            <a:avLst/>
          </a:prstGeom>
          <a:solidFill>
            <a:srgbClr val="EEF3F8"/>
          </a:solidFill>
          <a:ln w="12700">
            <a:solidFill>
              <a:srgbClr val="EEF3F8">
                <a:alpha val="0"/>
              </a:srgbClr>
            </a:solidFill>
            <a:prstDash val="solid"/>
          </a:ln>
        </p:spPr>
      </p:sp>
      <p:sp>
        <p:nvSpPr>
          <p:cNvPr id="34" name="Text 32"/>
          <p:cNvSpPr/>
          <p:nvPr/>
        </p:nvSpPr>
        <p:spPr>
          <a:xfrm>
            <a:off x="4114800" y="31455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5,192</a:t>
            </a:r>
            <a:endParaRPr lang="en-US" sz="1500" dirty="0"/>
          </a:p>
        </p:txBody>
      </p:sp>
      <p:sp>
        <p:nvSpPr>
          <p:cNvPr id="35" name="Shape 33"/>
          <p:cNvSpPr/>
          <p:nvPr/>
        </p:nvSpPr>
        <p:spPr>
          <a:xfrm>
            <a:off x="5669280" y="2999232"/>
            <a:ext cx="1527048" cy="612648"/>
          </a:xfrm>
          <a:prstGeom prst="roundRect">
            <a:avLst/>
          </a:prstGeom>
          <a:solidFill>
            <a:srgbClr val="EEF3F8"/>
          </a:solidFill>
          <a:ln w="12700">
            <a:solidFill>
              <a:srgbClr val="EEF3F8">
                <a:alpha val="0"/>
              </a:srgbClr>
            </a:solidFill>
            <a:prstDash val="solid"/>
          </a:ln>
        </p:spPr>
      </p:sp>
      <p:sp>
        <p:nvSpPr>
          <p:cNvPr id="36" name="Text 34"/>
          <p:cNvSpPr/>
          <p:nvPr/>
        </p:nvSpPr>
        <p:spPr>
          <a:xfrm>
            <a:off x="5715000" y="31455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6,264</a:t>
            </a:r>
            <a:endParaRPr lang="en-US" sz="1500" dirty="0"/>
          </a:p>
        </p:txBody>
      </p:sp>
      <p:sp>
        <p:nvSpPr>
          <p:cNvPr id="37" name="Shape 35"/>
          <p:cNvSpPr/>
          <p:nvPr/>
        </p:nvSpPr>
        <p:spPr>
          <a:xfrm>
            <a:off x="7269480" y="2999232"/>
            <a:ext cx="1527048" cy="612648"/>
          </a:xfrm>
          <a:prstGeom prst="roundRect">
            <a:avLst/>
          </a:prstGeom>
          <a:solidFill>
            <a:srgbClr val="E3F3EF"/>
          </a:solidFill>
          <a:ln w="12700">
            <a:solidFill>
              <a:srgbClr val="E3F3EF">
                <a:alpha val="0"/>
              </a:srgbClr>
            </a:solidFill>
            <a:prstDash val="solid"/>
          </a:ln>
        </p:spPr>
      </p:sp>
      <p:sp>
        <p:nvSpPr>
          <p:cNvPr id="38" name="Text 36"/>
          <p:cNvSpPr/>
          <p:nvPr/>
        </p:nvSpPr>
        <p:spPr>
          <a:xfrm>
            <a:off x="7315200" y="31455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7,335</a:t>
            </a:r>
            <a:endParaRPr lang="en-US" sz="1500" dirty="0"/>
          </a:p>
        </p:txBody>
      </p:sp>
      <p:sp>
        <p:nvSpPr>
          <p:cNvPr id="39" name="Shape 37"/>
          <p:cNvSpPr/>
          <p:nvPr/>
        </p:nvSpPr>
        <p:spPr>
          <a:xfrm>
            <a:off x="8869680" y="2999232"/>
            <a:ext cx="1527048" cy="612648"/>
          </a:xfrm>
          <a:prstGeom prst="roundRect">
            <a:avLst/>
          </a:prstGeom>
          <a:solidFill>
            <a:srgbClr val="E3F3EF"/>
          </a:solidFill>
          <a:ln w="12700">
            <a:solidFill>
              <a:srgbClr val="E3F3EF">
                <a:alpha val="0"/>
              </a:srgbClr>
            </a:solidFill>
            <a:prstDash val="solid"/>
          </a:ln>
        </p:spPr>
      </p:sp>
      <p:sp>
        <p:nvSpPr>
          <p:cNvPr id="40" name="Text 38"/>
          <p:cNvSpPr/>
          <p:nvPr/>
        </p:nvSpPr>
        <p:spPr>
          <a:xfrm>
            <a:off x="8915400" y="31455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8,407</a:t>
            </a:r>
            <a:endParaRPr lang="en-US" sz="1500" dirty="0"/>
          </a:p>
        </p:txBody>
      </p:sp>
      <p:sp>
        <p:nvSpPr>
          <p:cNvPr id="41" name="Text 39"/>
          <p:cNvSpPr/>
          <p:nvPr/>
        </p:nvSpPr>
        <p:spPr>
          <a:xfrm>
            <a:off x="877824" y="3794760"/>
            <a:ext cx="1417320" cy="274320"/>
          </a:xfrm>
          <a:prstGeom prst="rect">
            <a:avLst/>
          </a:prstGeom>
          <a:noFill/>
          <a:ln/>
        </p:spPr>
        <p:txBody>
          <a:bodyPr wrap="square" lIns="0" tIns="0" rIns="0" bIns="0" rtlCol="0" anchor="ctr">
            <a:normAutofit/>
          </a:bodyPr>
          <a:lstStyle/>
          <a:p>
            <a:pPr indent="0" marL="0">
              <a:buNone/>
            </a:pPr>
            <a:r>
              <a:rPr lang="en-US" sz="1500" b="1" dirty="0">
                <a:solidFill>
                  <a:srgbClr val="192C41"/>
                </a:solidFill>
                <a:latin typeface="Aptos" pitchFamily="34" charset="0"/>
                <a:ea typeface="Aptos" pitchFamily="34" charset="-122"/>
                <a:cs typeface="Aptos" pitchFamily="34" charset="-120"/>
              </a:rPr>
              <a:t>0% fuel</a:t>
            </a:r>
            <a:endParaRPr lang="en-US" sz="1500" dirty="0"/>
          </a:p>
        </p:txBody>
      </p:sp>
      <p:sp>
        <p:nvSpPr>
          <p:cNvPr id="42" name="Shape 40"/>
          <p:cNvSpPr/>
          <p:nvPr/>
        </p:nvSpPr>
        <p:spPr>
          <a:xfrm>
            <a:off x="2468880" y="3685032"/>
            <a:ext cx="1527048" cy="612648"/>
          </a:xfrm>
          <a:prstGeom prst="roundRect">
            <a:avLst/>
          </a:prstGeom>
          <a:solidFill>
            <a:srgbClr val="F9E8EA"/>
          </a:solidFill>
          <a:ln w="12700">
            <a:solidFill>
              <a:srgbClr val="F9E8EA">
                <a:alpha val="0"/>
              </a:srgbClr>
            </a:solidFill>
            <a:prstDash val="solid"/>
          </a:ln>
        </p:spPr>
      </p:sp>
      <p:sp>
        <p:nvSpPr>
          <p:cNvPr id="43" name="Text 41"/>
          <p:cNvSpPr/>
          <p:nvPr/>
        </p:nvSpPr>
        <p:spPr>
          <a:xfrm>
            <a:off x="2514600" y="38313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3,114</a:t>
            </a:r>
            <a:endParaRPr lang="en-US" sz="1500" dirty="0"/>
          </a:p>
        </p:txBody>
      </p:sp>
      <p:sp>
        <p:nvSpPr>
          <p:cNvPr id="44" name="Shape 42"/>
          <p:cNvSpPr/>
          <p:nvPr/>
        </p:nvSpPr>
        <p:spPr>
          <a:xfrm>
            <a:off x="4069080" y="3685032"/>
            <a:ext cx="1527048" cy="612648"/>
          </a:xfrm>
          <a:prstGeom prst="roundRect">
            <a:avLst/>
          </a:prstGeom>
          <a:solidFill>
            <a:srgbClr val="F9E8EA"/>
          </a:solidFill>
          <a:ln w="12700">
            <a:solidFill>
              <a:srgbClr val="F9E8EA">
                <a:alpha val="0"/>
              </a:srgbClr>
            </a:solidFill>
            <a:prstDash val="solid"/>
          </a:ln>
        </p:spPr>
      </p:sp>
      <p:sp>
        <p:nvSpPr>
          <p:cNvPr id="45" name="Text 43"/>
          <p:cNvSpPr/>
          <p:nvPr/>
        </p:nvSpPr>
        <p:spPr>
          <a:xfrm>
            <a:off x="4114800" y="38313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4,185</a:t>
            </a:r>
            <a:endParaRPr lang="en-US" sz="1500" dirty="0"/>
          </a:p>
        </p:txBody>
      </p:sp>
      <p:sp>
        <p:nvSpPr>
          <p:cNvPr id="46" name="Shape 44"/>
          <p:cNvSpPr/>
          <p:nvPr/>
        </p:nvSpPr>
        <p:spPr>
          <a:xfrm>
            <a:off x="5669280" y="3685032"/>
            <a:ext cx="1527048" cy="612648"/>
          </a:xfrm>
          <a:prstGeom prst="roundRect">
            <a:avLst/>
          </a:prstGeom>
          <a:solidFill>
            <a:srgbClr val="D5E9DB"/>
          </a:solidFill>
          <a:ln w="12700">
            <a:solidFill>
              <a:srgbClr val="D5E9DB">
                <a:alpha val="0"/>
              </a:srgbClr>
            </a:solidFill>
            <a:prstDash val="solid"/>
          </a:ln>
        </p:spPr>
      </p:sp>
      <p:sp>
        <p:nvSpPr>
          <p:cNvPr id="47" name="Text 45"/>
          <p:cNvSpPr/>
          <p:nvPr/>
        </p:nvSpPr>
        <p:spPr>
          <a:xfrm>
            <a:off x="5715000" y="3831336"/>
            <a:ext cx="1426464" cy="256032"/>
          </a:xfrm>
          <a:prstGeom prst="rect">
            <a:avLst/>
          </a:prstGeom>
          <a:noFill/>
          <a:ln/>
        </p:spPr>
        <p:txBody>
          <a:bodyPr wrap="square" lIns="0" tIns="0" rIns="0" bIns="0" rtlCol="0" anchor="ctr">
            <a:normAutofit/>
          </a:bodyPr>
          <a:lstStyle/>
          <a:p>
            <a:pPr algn="ctr" indent="0" marL="0">
              <a:buNone/>
            </a:pPr>
            <a:r>
              <a:rPr lang="en-US" sz="1500" b="1" dirty="0">
                <a:solidFill>
                  <a:srgbClr val="192C41"/>
                </a:solidFill>
                <a:latin typeface="Aptos" pitchFamily="34" charset="0"/>
                <a:ea typeface="Aptos" pitchFamily="34" charset="-122"/>
                <a:cs typeface="Aptos" pitchFamily="34" charset="-120"/>
              </a:rPr>
              <a:t>5,257</a:t>
            </a:r>
            <a:endParaRPr lang="en-US" sz="1500" dirty="0"/>
          </a:p>
        </p:txBody>
      </p:sp>
      <p:sp>
        <p:nvSpPr>
          <p:cNvPr id="48" name="Shape 46"/>
          <p:cNvSpPr/>
          <p:nvPr/>
        </p:nvSpPr>
        <p:spPr>
          <a:xfrm>
            <a:off x="7269480" y="3685032"/>
            <a:ext cx="1527048" cy="612648"/>
          </a:xfrm>
          <a:prstGeom prst="roundRect">
            <a:avLst/>
          </a:prstGeom>
          <a:solidFill>
            <a:srgbClr val="EEF3F8"/>
          </a:solidFill>
          <a:ln w="12700">
            <a:solidFill>
              <a:srgbClr val="EEF3F8">
                <a:alpha val="0"/>
              </a:srgbClr>
            </a:solidFill>
            <a:prstDash val="solid"/>
          </a:ln>
        </p:spPr>
      </p:sp>
      <p:sp>
        <p:nvSpPr>
          <p:cNvPr id="49" name="Text 47"/>
          <p:cNvSpPr/>
          <p:nvPr/>
        </p:nvSpPr>
        <p:spPr>
          <a:xfrm>
            <a:off x="7315200" y="38313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6,329</a:t>
            </a:r>
            <a:endParaRPr lang="en-US" sz="1500" dirty="0"/>
          </a:p>
        </p:txBody>
      </p:sp>
      <p:sp>
        <p:nvSpPr>
          <p:cNvPr id="50" name="Shape 48"/>
          <p:cNvSpPr/>
          <p:nvPr/>
        </p:nvSpPr>
        <p:spPr>
          <a:xfrm>
            <a:off x="8869680" y="3685032"/>
            <a:ext cx="1527048" cy="612648"/>
          </a:xfrm>
          <a:prstGeom prst="roundRect">
            <a:avLst/>
          </a:prstGeom>
          <a:solidFill>
            <a:srgbClr val="E3F3EF"/>
          </a:solidFill>
          <a:ln w="12700">
            <a:solidFill>
              <a:srgbClr val="E3F3EF">
                <a:alpha val="0"/>
              </a:srgbClr>
            </a:solidFill>
            <a:prstDash val="solid"/>
          </a:ln>
        </p:spPr>
      </p:sp>
      <p:sp>
        <p:nvSpPr>
          <p:cNvPr id="51" name="Text 49"/>
          <p:cNvSpPr/>
          <p:nvPr/>
        </p:nvSpPr>
        <p:spPr>
          <a:xfrm>
            <a:off x="8915400" y="38313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7,401</a:t>
            </a:r>
            <a:endParaRPr lang="en-US" sz="1500" dirty="0"/>
          </a:p>
        </p:txBody>
      </p:sp>
      <p:sp>
        <p:nvSpPr>
          <p:cNvPr id="52" name="Text 50"/>
          <p:cNvSpPr/>
          <p:nvPr/>
        </p:nvSpPr>
        <p:spPr>
          <a:xfrm>
            <a:off x="877824" y="4480560"/>
            <a:ext cx="1417320" cy="274320"/>
          </a:xfrm>
          <a:prstGeom prst="rect">
            <a:avLst/>
          </a:prstGeom>
          <a:noFill/>
          <a:ln/>
        </p:spPr>
        <p:txBody>
          <a:bodyPr wrap="square" lIns="0" tIns="0" rIns="0" bIns="0" rtlCol="0" anchor="ctr">
            <a:normAutofit/>
          </a:bodyPr>
          <a:lstStyle/>
          <a:p>
            <a:pPr indent="0" marL="0">
              <a:buNone/>
            </a:pPr>
            <a:r>
              <a:rPr lang="en-US" sz="1500" b="1" dirty="0">
                <a:solidFill>
                  <a:srgbClr val="192C41"/>
                </a:solidFill>
                <a:latin typeface="Aptos" pitchFamily="34" charset="0"/>
                <a:ea typeface="Aptos" pitchFamily="34" charset="-122"/>
                <a:cs typeface="Aptos" pitchFamily="34" charset="-120"/>
              </a:rPr>
              <a:t>+10% fuel</a:t>
            </a:r>
            <a:endParaRPr lang="en-US" sz="1500" dirty="0"/>
          </a:p>
        </p:txBody>
      </p:sp>
      <p:sp>
        <p:nvSpPr>
          <p:cNvPr id="53" name="Shape 51"/>
          <p:cNvSpPr/>
          <p:nvPr/>
        </p:nvSpPr>
        <p:spPr>
          <a:xfrm>
            <a:off x="2468880" y="4370832"/>
            <a:ext cx="1527048" cy="612648"/>
          </a:xfrm>
          <a:prstGeom prst="roundRect">
            <a:avLst/>
          </a:prstGeom>
          <a:solidFill>
            <a:srgbClr val="F9E8EA"/>
          </a:solidFill>
          <a:ln w="12700">
            <a:solidFill>
              <a:srgbClr val="F9E8EA">
                <a:alpha val="0"/>
              </a:srgbClr>
            </a:solidFill>
            <a:prstDash val="solid"/>
          </a:ln>
        </p:spPr>
      </p:sp>
      <p:sp>
        <p:nvSpPr>
          <p:cNvPr id="54" name="Text 52"/>
          <p:cNvSpPr/>
          <p:nvPr/>
        </p:nvSpPr>
        <p:spPr>
          <a:xfrm>
            <a:off x="2514600" y="45171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2,107</a:t>
            </a:r>
            <a:endParaRPr lang="en-US" sz="1500" dirty="0"/>
          </a:p>
        </p:txBody>
      </p:sp>
      <p:sp>
        <p:nvSpPr>
          <p:cNvPr id="55" name="Shape 53"/>
          <p:cNvSpPr/>
          <p:nvPr/>
        </p:nvSpPr>
        <p:spPr>
          <a:xfrm>
            <a:off x="4069080" y="4370832"/>
            <a:ext cx="1527048" cy="612648"/>
          </a:xfrm>
          <a:prstGeom prst="roundRect">
            <a:avLst/>
          </a:prstGeom>
          <a:solidFill>
            <a:srgbClr val="F9E8EA"/>
          </a:solidFill>
          <a:ln w="12700">
            <a:solidFill>
              <a:srgbClr val="F9E8EA">
                <a:alpha val="0"/>
              </a:srgbClr>
            </a:solidFill>
            <a:prstDash val="solid"/>
          </a:ln>
        </p:spPr>
      </p:sp>
      <p:sp>
        <p:nvSpPr>
          <p:cNvPr id="56" name="Text 54"/>
          <p:cNvSpPr/>
          <p:nvPr/>
        </p:nvSpPr>
        <p:spPr>
          <a:xfrm>
            <a:off x="4114800" y="45171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3,179</a:t>
            </a:r>
            <a:endParaRPr lang="en-US" sz="1500" dirty="0"/>
          </a:p>
        </p:txBody>
      </p:sp>
      <p:sp>
        <p:nvSpPr>
          <p:cNvPr id="57" name="Shape 55"/>
          <p:cNvSpPr/>
          <p:nvPr/>
        </p:nvSpPr>
        <p:spPr>
          <a:xfrm>
            <a:off x="5669280" y="4370832"/>
            <a:ext cx="1527048" cy="612648"/>
          </a:xfrm>
          <a:prstGeom prst="roundRect">
            <a:avLst/>
          </a:prstGeom>
          <a:solidFill>
            <a:srgbClr val="F9E8EA"/>
          </a:solidFill>
          <a:ln w="12700">
            <a:solidFill>
              <a:srgbClr val="F9E8EA">
                <a:alpha val="0"/>
              </a:srgbClr>
            </a:solidFill>
            <a:prstDash val="solid"/>
          </a:ln>
        </p:spPr>
      </p:sp>
      <p:sp>
        <p:nvSpPr>
          <p:cNvPr id="58" name="Text 56"/>
          <p:cNvSpPr/>
          <p:nvPr/>
        </p:nvSpPr>
        <p:spPr>
          <a:xfrm>
            <a:off x="5715000" y="45171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4,251</a:t>
            </a:r>
            <a:endParaRPr lang="en-US" sz="1500" dirty="0"/>
          </a:p>
        </p:txBody>
      </p:sp>
      <p:sp>
        <p:nvSpPr>
          <p:cNvPr id="59" name="Shape 57"/>
          <p:cNvSpPr/>
          <p:nvPr/>
        </p:nvSpPr>
        <p:spPr>
          <a:xfrm>
            <a:off x="7269480" y="4370832"/>
            <a:ext cx="1527048" cy="612648"/>
          </a:xfrm>
          <a:prstGeom prst="roundRect">
            <a:avLst/>
          </a:prstGeom>
          <a:solidFill>
            <a:srgbClr val="EEF3F8"/>
          </a:solidFill>
          <a:ln w="12700">
            <a:solidFill>
              <a:srgbClr val="EEF3F8">
                <a:alpha val="0"/>
              </a:srgbClr>
            </a:solidFill>
            <a:prstDash val="solid"/>
          </a:ln>
        </p:spPr>
      </p:sp>
      <p:sp>
        <p:nvSpPr>
          <p:cNvPr id="60" name="Text 58"/>
          <p:cNvSpPr/>
          <p:nvPr/>
        </p:nvSpPr>
        <p:spPr>
          <a:xfrm>
            <a:off x="7315200" y="45171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5,323</a:t>
            </a:r>
            <a:endParaRPr lang="en-US" sz="1500" dirty="0"/>
          </a:p>
        </p:txBody>
      </p:sp>
      <p:sp>
        <p:nvSpPr>
          <p:cNvPr id="61" name="Shape 59"/>
          <p:cNvSpPr/>
          <p:nvPr/>
        </p:nvSpPr>
        <p:spPr>
          <a:xfrm>
            <a:off x="8869680" y="4370832"/>
            <a:ext cx="1527048" cy="612648"/>
          </a:xfrm>
          <a:prstGeom prst="roundRect">
            <a:avLst/>
          </a:prstGeom>
          <a:solidFill>
            <a:srgbClr val="EEF3F8"/>
          </a:solidFill>
          <a:ln w="12700">
            <a:solidFill>
              <a:srgbClr val="EEF3F8">
                <a:alpha val="0"/>
              </a:srgbClr>
            </a:solidFill>
            <a:prstDash val="solid"/>
          </a:ln>
        </p:spPr>
      </p:sp>
      <p:sp>
        <p:nvSpPr>
          <p:cNvPr id="62" name="Text 60"/>
          <p:cNvSpPr/>
          <p:nvPr/>
        </p:nvSpPr>
        <p:spPr>
          <a:xfrm>
            <a:off x="8915400" y="45171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6,394</a:t>
            </a:r>
            <a:endParaRPr lang="en-US" sz="1500" dirty="0"/>
          </a:p>
        </p:txBody>
      </p:sp>
      <p:sp>
        <p:nvSpPr>
          <p:cNvPr id="63" name="Text 61"/>
          <p:cNvSpPr/>
          <p:nvPr/>
        </p:nvSpPr>
        <p:spPr>
          <a:xfrm>
            <a:off x="877824" y="5166360"/>
            <a:ext cx="1417320" cy="274320"/>
          </a:xfrm>
          <a:prstGeom prst="rect">
            <a:avLst/>
          </a:prstGeom>
          <a:noFill/>
          <a:ln/>
        </p:spPr>
        <p:txBody>
          <a:bodyPr wrap="square" lIns="0" tIns="0" rIns="0" bIns="0" rtlCol="0" anchor="ctr">
            <a:normAutofit/>
          </a:bodyPr>
          <a:lstStyle/>
          <a:p>
            <a:pPr indent="0" marL="0">
              <a:buNone/>
            </a:pPr>
            <a:r>
              <a:rPr lang="en-US" sz="1500" b="1" dirty="0">
                <a:solidFill>
                  <a:srgbClr val="192C41"/>
                </a:solidFill>
                <a:latin typeface="Aptos" pitchFamily="34" charset="0"/>
                <a:ea typeface="Aptos" pitchFamily="34" charset="-122"/>
                <a:cs typeface="Aptos" pitchFamily="34" charset="-120"/>
              </a:rPr>
              <a:t>+20% fuel</a:t>
            </a:r>
            <a:endParaRPr lang="en-US" sz="1500" dirty="0"/>
          </a:p>
        </p:txBody>
      </p:sp>
      <p:sp>
        <p:nvSpPr>
          <p:cNvPr id="64" name="Shape 62"/>
          <p:cNvSpPr/>
          <p:nvPr/>
        </p:nvSpPr>
        <p:spPr>
          <a:xfrm>
            <a:off x="2468880" y="5056632"/>
            <a:ext cx="1527048" cy="612648"/>
          </a:xfrm>
          <a:prstGeom prst="roundRect">
            <a:avLst/>
          </a:prstGeom>
          <a:solidFill>
            <a:srgbClr val="F9E8EA"/>
          </a:solidFill>
          <a:ln w="12700">
            <a:solidFill>
              <a:srgbClr val="F9E8EA">
                <a:alpha val="0"/>
              </a:srgbClr>
            </a:solidFill>
            <a:prstDash val="solid"/>
          </a:ln>
        </p:spPr>
      </p:sp>
      <p:sp>
        <p:nvSpPr>
          <p:cNvPr id="65" name="Text 63"/>
          <p:cNvSpPr/>
          <p:nvPr/>
        </p:nvSpPr>
        <p:spPr>
          <a:xfrm>
            <a:off x="2514600" y="52029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1,101</a:t>
            </a:r>
            <a:endParaRPr lang="en-US" sz="1500" dirty="0"/>
          </a:p>
        </p:txBody>
      </p:sp>
      <p:sp>
        <p:nvSpPr>
          <p:cNvPr id="66" name="Shape 64"/>
          <p:cNvSpPr/>
          <p:nvPr/>
        </p:nvSpPr>
        <p:spPr>
          <a:xfrm>
            <a:off x="4069080" y="5056632"/>
            <a:ext cx="1527048" cy="612648"/>
          </a:xfrm>
          <a:prstGeom prst="roundRect">
            <a:avLst/>
          </a:prstGeom>
          <a:solidFill>
            <a:srgbClr val="F9E8EA"/>
          </a:solidFill>
          <a:ln w="12700">
            <a:solidFill>
              <a:srgbClr val="F9E8EA">
                <a:alpha val="0"/>
              </a:srgbClr>
            </a:solidFill>
            <a:prstDash val="solid"/>
          </a:ln>
        </p:spPr>
      </p:sp>
      <p:sp>
        <p:nvSpPr>
          <p:cNvPr id="67" name="Text 65"/>
          <p:cNvSpPr/>
          <p:nvPr/>
        </p:nvSpPr>
        <p:spPr>
          <a:xfrm>
            <a:off x="4114800" y="52029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2,173</a:t>
            </a:r>
            <a:endParaRPr lang="en-US" sz="1500" dirty="0"/>
          </a:p>
        </p:txBody>
      </p:sp>
      <p:sp>
        <p:nvSpPr>
          <p:cNvPr id="68" name="Shape 66"/>
          <p:cNvSpPr/>
          <p:nvPr/>
        </p:nvSpPr>
        <p:spPr>
          <a:xfrm>
            <a:off x="5669280" y="5056632"/>
            <a:ext cx="1527048" cy="612648"/>
          </a:xfrm>
          <a:prstGeom prst="roundRect">
            <a:avLst/>
          </a:prstGeom>
          <a:solidFill>
            <a:srgbClr val="F9E8EA"/>
          </a:solidFill>
          <a:ln w="12700">
            <a:solidFill>
              <a:srgbClr val="F9E8EA">
                <a:alpha val="0"/>
              </a:srgbClr>
            </a:solidFill>
            <a:prstDash val="solid"/>
          </a:ln>
        </p:spPr>
      </p:sp>
      <p:sp>
        <p:nvSpPr>
          <p:cNvPr id="69" name="Text 67"/>
          <p:cNvSpPr/>
          <p:nvPr/>
        </p:nvSpPr>
        <p:spPr>
          <a:xfrm>
            <a:off x="5715000" y="52029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3,245</a:t>
            </a:r>
            <a:endParaRPr lang="en-US" sz="1500" dirty="0"/>
          </a:p>
        </p:txBody>
      </p:sp>
      <p:sp>
        <p:nvSpPr>
          <p:cNvPr id="70" name="Shape 68"/>
          <p:cNvSpPr/>
          <p:nvPr/>
        </p:nvSpPr>
        <p:spPr>
          <a:xfrm>
            <a:off x="7269480" y="5056632"/>
            <a:ext cx="1527048" cy="612648"/>
          </a:xfrm>
          <a:prstGeom prst="roundRect">
            <a:avLst/>
          </a:prstGeom>
          <a:solidFill>
            <a:srgbClr val="F9E8EA"/>
          </a:solidFill>
          <a:ln w="12700">
            <a:solidFill>
              <a:srgbClr val="F9E8EA">
                <a:alpha val="0"/>
              </a:srgbClr>
            </a:solidFill>
            <a:prstDash val="solid"/>
          </a:ln>
        </p:spPr>
      </p:sp>
      <p:sp>
        <p:nvSpPr>
          <p:cNvPr id="71" name="Text 69"/>
          <p:cNvSpPr/>
          <p:nvPr/>
        </p:nvSpPr>
        <p:spPr>
          <a:xfrm>
            <a:off x="7315200" y="52029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4,316</a:t>
            </a:r>
            <a:endParaRPr lang="en-US" sz="1500" dirty="0"/>
          </a:p>
        </p:txBody>
      </p:sp>
      <p:sp>
        <p:nvSpPr>
          <p:cNvPr id="72" name="Shape 70"/>
          <p:cNvSpPr/>
          <p:nvPr/>
        </p:nvSpPr>
        <p:spPr>
          <a:xfrm>
            <a:off x="8869680" y="5056632"/>
            <a:ext cx="1527048" cy="612648"/>
          </a:xfrm>
          <a:prstGeom prst="roundRect">
            <a:avLst/>
          </a:prstGeom>
          <a:solidFill>
            <a:srgbClr val="EEF3F8"/>
          </a:solidFill>
          <a:ln w="12700">
            <a:solidFill>
              <a:srgbClr val="EEF3F8">
                <a:alpha val="0"/>
              </a:srgbClr>
            </a:solidFill>
            <a:prstDash val="solid"/>
          </a:ln>
        </p:spPr>
      </p:sp>
      <p:sp>
        <p:nvSpPr>
          <p:cNvPr id="73" name="Text 71"/>
          <p:cNvSpPr/>
          <p:nvPr/>
        </p:nvSpPr>
        <p:spPr>
          <a:xfrm>
            <a:off x="8915400" y="5202936"/>
            <a:ext cx="1426464" cy="256032"/>
          </a:xfrm>
          <a:prstGeom prst="rect">
            <a:avLst/>
          </a:prstGeom>
          <a:noFill/>
          <a:ln/>
        </p:spPr>
        <p:txBody>
          <a:bodyPr wrap="square" lIns="0" tIns="0" rIns="0" bIns="0" rtlCol="0" anchor="ctr">
            <a:normAutofit/>
          </a:bodyPr>
          <a:lstStyle/>
          <a:p>
            <a:pPr algn="ctr" indent="0" marL="0">
              <a:buNone/>
            </a:pPr>
            <a:r>
              <a:rPr lang="en-US" sz="1500" dirty="0">
                <a:solidFill>
                  <a:srgbClr val="192C41"/>
                </a:solidFill>
                <a:latin typeface="Aptos" pitchFamily="34" charset="0"/>
                <a:ea typeface="Aptos" pitchFamily="34" charset="-122"/>
                <a:cs typeface="Aptos" pitchFamily="34" charset="-120"/>
              </a:rPr>
              <a:t>5,388</a:t>
            </a:r>
            <a:endParaRPr lang="en-US" sz="1500" dirty="0"/>
          </a:p>
        </p:txBody>
      </p:sp>
      <p:sp>
        <p:nvSpPr>
          <p:cNvPr id="74" name="Text 72"/>
          <p:cNvSpPr/>
          <p:nvPr/>
        </p:nvSpPr>
        <p:spPr>
          <a:xfrm>
            <a:off x="777240" y="5833872"/>
            <a:ext cx="10881360" cy="265176"/>
          </a:xfrm>
          <a:prstGeom prst="rect">
            <a:avLst/>
          </a:prstGeom>
          <a:noFill/>
          <a:ln/>
        </p:spPr>
        <p:txBody>
          <a:bodyPr wrap="square" lIns="0" tIns="0" rIns="0" bIns="0" rtlCol="0" anchor="ctr">
            <a:normAutofit/>
          </a:bodyPr>
          <a:lstStyle/>
          <a:p>
            <a:pPr algn="ctr" indent="0" marL="0">
              <a:buNone/>
            </a:pPr>
            <a:r>
              <a:rPr lang="en-US" sz="1400" b="1" dirty="0">
                <a:solidFill>
                  <a:srgbClr val="52687C"/>
                </a:solidFill>
                <a:latin typeface="Aptos" pitchFamily="34" charset="0"/>
                <a:ea typeface="Aptos" pitchFamily="34" charset="-122"/>
                <a:cs typeface="Aptos" pitchFamily="34" charset="-120"/>
              </a:rPr>
              <a:t>Center = $5,257m EBIT · +10% fuel ≈ −$1.0B · +1% passenger yield ≈ +$536m</a:t>
            </a:r>
            <a:endParaRPr lang="en-US" sz="1400" dirty="0"/>
          </a:p>
        </p:txBody>
      </p:sp>
      <p:sp>
        <p:nvSpPr>
          <p:cNvPr id="75" name="Text 73"/>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Source: student financial model, hold all other operating drivers constant; no probabilistic interpretation</a:t>
            </a:r>
            <a:endParaRPr lang="en-US" sz="9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12191695" cy="100584"/>
          </a:xfrm>
          <a:prstGeom prst="rect">
            <a:avLst/>
          </a:prstGeom>
          <a:solidFill>
            <a:srgbClr val="C51F36"/>
          </a:solidFill>
          <a:ln w="12700">
            <a:solidFill>
              <a:srgbClr val="C51F36">
                <a:alpha val="0"/>
              </a:srgbClr>
            </a:solidFill>
            <a:prstDash val="solid"/>
          </a:ln>
        </p:spPr>
      </p:sp>
      <p:sp>
        <p:nvSpPr>
          <p:cNvPr id="3" name="Shape 1"/>
          <p:cNvSpPr/>
          <p:nvPr/>
        </p:nvSpPr>
        <p:spPr>
          <a:xfrm>
            <a:off x="0" y="100584"/>
            <a:ext cx="12191695" cy="649224"/>
          </a:xfrm>
          <a:prstGeom prst="rect">
            <a:avLst/>
          </a:prstGeom>
          <a:solidFill>
            <a:srgbClr val="142B46"/>
          </a:solidFill>
          <a:ln w="12700">
            <a:solidFill>
              <a:srgbClr val="142B46">
                <a:alpha val="0"/>
              </a:srgbClr>
            </a:solidFill>
            <a:prstDash val="solid"/>
          </a:ln>
        </p:spPr>
      </p:sp>
      <p:sp>
        <p:nvSpPr>
          <p:cNvPr id="4" name="Text 2"/>
          <p:cNvSpPr/>
          <p:nvPr/>
        </p:nvSpPr>
        <p:spPr>
          <a:xfrm>
            <a:off x="530352" y="164592"/>
            <a:ext cx="10972800" cy="402336"/>
          </a:xfrm>
          <a:prstGeom prst="rect">
            <a:avLst/>
          </a:prstGeom>
          <a:noFill/>
          <a:ln/>
        </p:spPr>
        <p:txBody>
          <a:bodyPr wrap="square" lIns="0" tIns="0" rIns="0" bIns="0" rtlCol="0" anchor="ctr">
            <a:normAutofit/>
          </a:bodyPr>
          <a:lstStyle/>
          <a:p>
            <a:pPr indent="0" marL="0">
              <a:buNone/>
            </a:pPr>
            <a:r>
              <a:rPr lang="en-US" sz="2500" b="1" dirty="0">
                <a:solidFill>
                  <a:srgbClr val="FFFFFF"/>
                </a:solidFill>
                <a:latin typeface="Aptos" pitchFamily="34" charset="0"/>
                <a:ea typeface="Aptos" pitchFamily="34" charset="-122"/>
                <a:cs typeface="Aptos" pitchFamily="34" charset="-120"/>
              </a:rPr>
              <a:t>Takeaways for a Finance / FP&amp;A Internship</a:t>
            </a:r>
            <a:endParaRPr lang="en-US" sz="2500" dirty="0"/>
          </a:p>
        </p:txBody>
      </p:sp>
      <p:sp>
        <p:nvSpPr>
          <p:cNvPr id="5" name="Text 3"/>
          <p:cNvSpPr/>
          <p:nvPr/>
        </p:nvSpPr>
        <p:spPr>
          <a:xfrm>
            <a:off x="594360" y="6473952"/>
            <a:ext cx="6217920" cy="155448"/>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Lessons, integrity and limitations</a:t>
            </a:r>
            <a:endParaRPr lang="en-US" sz="900" dirty="0"/>
          </a:p>
        </p:txBody>
      </p:sp>
      <p:sp>
        <p:nvSpPr>
          <p:cNvPr id="6" name="Text 4"/>
          <p:cNvSpPr/>
          <p:nvPr/>
        </p:nvSpPr>
        <p:spPr>
          <a:xfrm>
            <a:off x="7315200" y="6473952"/>
            <a:ext cx="3703320" cy="155448"/>
          </a:xfrm>
          <a:prstGeom prst="rect">
            <a:avLst/>
          </a:prstGeom>
          <a:noFill/>
          <a:ln/>
        </p:spPr>
        <p:txBody>
          <a:bodyPr wrap="square" lIns="0" tIns="0" rIns="0" bIns="0" rtlCol="0" anchor="ctr">
            <a:normAutofit/>
          </a:bodyPr>
          <a:lstStyle/>
          <a:p>
            <a:pPr algn="r" indent="0" marL="0">
              <a:buNone/>
            </a:pPr>
            <a:r>
              <a:rPr lang="en-US" sz="900" dirty="0">
                <a:solidFill>
                  <a:srgbClr val="52687C"/>
                </a:solidFill>
                <a:latin typeface="Aptos" pitchFamily="34" charset="0"/>
                <a:ea typeface="Aptos" pitchFamily="34" charset="-122"/>
                <a:cs typeface="Aptos" pitchFamily="34" charset="-120"/>
              </a:rPr>
              <a:t>UNIVERSITY OF GEORGIA  ·  BBA FINANCE</a:t>
            </a:r>
            <a:endParaRPr lang="en-US" sz="900" dirty="0"/>
          </a:p>
        </p:txBody>
      </p:sp>
      <p:sp>
        <p:nvSpPr>
          <p:cNvPr id="7" name="Text 5"/>
          <p:cNvSpPr/>
          <p:nvPr/>
        </p:nvSpPr>
        <p:spPr>
          <a:xfrm>
            <a:off x="11631168" y="6455664"/>
            <a:ext cx="256032" cy="164592"/>
          </a:xfrm>
          <a:prstGeom prst="rect">
            <a:avLst/>
          </a:prstGeom>
          <a:noFill/>
          <a:ln/>
        </p:spPr>
        <p:txBody>
          <a:bodyPr wrap="square" lIns="0" tIns="0" rIns="0" bIns="0" rtlCol="0" anchor="ctr">
            <a:normAutofit/>
          </a:bodyPr>
          <a:lstStyle/>
          <a:p>
            <a:pPr algn="r" indent="0" marL="0">
              <a:buNone/>
            </a:pPr>
            <a:r>
              <a:rPr lang="en-US" sz="900" b="1" dirty="0">
                <a:solidFill>
                  <a:srgbClr val="8294A6"/>
                </a:solidFill>
                <a:latin typeface="Aptos" pitchFamily="34" charset="0"/>
                <a:ea typeface="Aptos" pitchFamily="34" charset="-122"/>
                <a:cs typeface="Aptos" pitchFamily="34" charset="-120"/>
              </a:rPr>
              <a:t>10</a:t>
            </a:r>
            <a:endParaRPr lang="en-US" sz="900" dirty="0"/>
          </a:p>
        </p:txBody>
      </p:sp>
      <p:sp>
        <p:nvSpPr>
          <p:cNvPr id="8" name="Shape 6"/>
          <p:cNvSpPr/>
          <p:nvPr/>
        </p:nvSpPr>
        <p:spPr>
          <a:xfrm>
            <a:off x="685800" y="1298448"/>
            <a:ext cx="10771632" cy="1115568"/>
          </a:xfrm>
          <a:prstGeom prst="roundRect">
            <a:avLst/>
          </a:prstGeom>
          <a:solidFill>
            <a:srgbClr val="EEF3F8"/>
          </a:solidFill>
          <a:ln w="12700">
            <a:solidFill>
              <a:srgbClr val="EEF3F8">
                <a:alpha val="0"/>
              </a:srgbClr>
            </a:solidFill>
            <a:prstDash val="solid"/>
          </a:ln>
        </p:spPr>
      </p:sp>
      <p:sp>
        <p:nvSpPr>
          <p:cNvPr id="9" name="Shape 7"/>
          <p:cNvSpPr/>
          <p:nvPr/>
        </p:nvSpPr>
        <p:spPr>
          <a:xfrm>
            <a:off x="685800" y="1298448"/>
            <a:ext cx="77724" cy="1115568"/>
          </a:xfrm>
          <a:prstGeom prst="rect">
            <a:avLst/>
          </a:prstGeom>
          <a:solidFill>
            <a:srgbClr val="142B46"/>
          </a:solidFill>
          <a:ln w="12700">
            <a:solidFill>
              <a:srgbClr val="142B46">
                <a:alpha val="0"/>
              </a:srgbClr>
            </a:solidFill>
            <a:prstDash val="solid"/>
          </a:ln>
        </p:spPr>
      </p:sp>
      <p:sp>
        <p:nvSpPr>
          <p:cNvPr id="10" name="Text 8"/>
          <p:cNvSpPr/>
          <p:nvPr/>
        </p:nvSpPr>
        <p:spPr>
          <a:xfrm>
            <a:off x="886968" y="1481328"/>
            <a:ext cx="10424160" cy="301752"/>
          </a:xfrm>
          <a:prstGeom prst="rect">
            <a:avLst/>
          </a:prstGeom>
          <a:noFill/>
          <a:ln/>
        </p:spPr>
        <p:txBody>
          <a:bodyPr wrap="square" lIns="0" tIns="0" rIns="0" bIns="0" rtlCol="0" anchor="ctr">
            <a:normAutofit/>
          </a:bodyPr>
          <a:lstStyle/>
          <a:p>
            <a:pPr indent="0" marL="0">
              <a:buNone/>
            </a:pPr>
            <a:r>
              <a:rPr lang="en-US" sz="1800" b="1" dirty="0">
                <a:solidFill>
                  <a:srgbClr val="142B46"/>
                </a:solidFill>
                <a:latin typeface="Aptos" pitchFamily="34" charset="0"/>
                <a:ea typeface="Aptos" pitchFamily="34" charset="-122"/>
                <a:cs typeface="Aptos" pitchFamily="34" charset="-120"/>
              </a:rPr>
              <a:t>01  SOURCE DISCIPLINE</a:t>
            </a:r>
            <a:endParaRPr lang="en-US" sz="1800" dirty="0"/>
          </a:p>
        </p:txBody>
      </p:sp>
      <p:sp>
        <p:nvSpPr>
          <p:cNvPr id="11" name="Text 9"/>
          <p:cNvSpPr/>
          <p:nvPr/>
        </p:nvSpPr>
        <p:spPr>
          <a:xfrm>
            <a:off x="886968" y="1847088"/>
            <a:ext cx="10378440" cy="402336"/>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Five years of GAAP data reconciled; key airline KPIs linked to SEC filings.</a:t>
            </a:r>
            <a:endParaRPr lang="en-US" sz="1400" dirty="0"/>
          </a:p>
        </p:txBody>
      </p:sp>
      <p:sp>
        <p:nvSpPr>
          <p:cNvPr id="12" name="Shape 10"/>
          <p:cNvSpPr/>
          <p:nvPr/>
        </p:nvSpPr>
        <p:spPr>
          <a:xfrm>
            <a:off x="685800" y="2633472"/>
            <a:ext cx="10771632" cy="1115568"/>
          </a:xfrm>
          <a:prstGeom prst="roundRect">
            <a:avLst/>
          </a:prstGeom>
          <a:solidFill>
            <a:srgbClr val="EEF3F8"/>
          </a:solidFill>
          <a:ln w="12700">
            <a:solidFill>
              <a:srgbClr val="EEF3F8">
                <a:alpha val="0"/>
              </a:srgbClr>
            </a:solidFill>
            <a:prstDash val="solid"/>
          </a:ln>
        </p:spPr>
      </p:sp>
      <p:sp>
        <p:nvSpPr>
          <p:cNvPr id="13" name="Shape 11"/>
          <p:cNvSpPr/>
          <p:nvPr/>
        </p:nvSpPr>
        <p:spPr>
          <a:xfrm>
            <a:off x="685800" y="2633472"/>
            <a:ext cx="77724" cy="1115568"/>
          </a:xfrm>
          <a:prstGeom prst="rect">
            <a:avLst/>
          </a:prstGeom>
          <a:solidFill>
            <a:srgbClr val="245079"/>
          </a:solidFill>
          <a:ln w="12700">
            <a:solidFill>
              <a:srgbClr val="245079">
                <a:alpha val="0"/>
              </a:srgbClr>
            </a:solidFill>
            <a:prstDash val="solid"/>
          </a:ln>
        </p:spPr>
      </p:sp>
      <p:sp>
        <p:nvSpPr>
          <p:cNvPr id="14" name="Text 12"/>
          <p:cNvSpPr/>
          <p:nvPr/>
        </p:nvSpPr>
        <p:spPr>
          <a:xfrm>
            <a:off x="886968" y="2816352"/>
            <a:ext cx="10424160" cy="301752"/>
          </a:xfrm>
          <a:prstGeom prst="rect">
            <a:avLst/>
          </a:prstGeom>
          <a:noFill/>
          <a:ln/>
        </p:spPr>
        <p:txBody>
          <a:bodyPr wrap="square" lIns="0" tIns="0" rIns="0" bIns="0" rtlCol="0" anchor="ctr">
            <a:normAutofit/>
          </a:bodyPr>
          <a:lstStyle/>
          <a:p>
            <a:pPr indent="0" marL="0">
              <a:buNone/>
            </a:pPr>
            <a:r>
              <a:rPr lang="en-US" sz="1800" b="1" dirty="0">
                <a:solidFill>
                  <a:srgbClr val="245079"/>
                </a:solidFill>
                <a:latin typeface="Aptos" pitchFamily="34" charset="0"/>
                <a:ea typeface="Aptos" pitchFamily="34" charset="-122"/>
                <a:cs typeface="Aptos" pitchFamily="34" charset="-120"/>
              </a:rPr>
              <a:t>02  DRIVER THINKING</a:t>
            </a:r>
            <a:endParaRPr lang="en-US" sz="1800" dirty="0"/>
          </a:p>
        </p:txBody>
      </p:sp>
      <p:sp>
        <p:nvSpPr>
          <p:cNvPr id="15" name="Text 13"/>
          <p:cNvSpPr/>
          <p:nvPr/>
        </p:nvSpPr>
        <p:spPr>
          <a:xfrm>
            <a:off x="886968" y="3182112"/>
            <a:ext cx="10378440" cy="402336"/>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Capacity, passenger yield, labor, and fuel must be modeled separately.</a:t>
            </a:r>
            <a:endParaRPr lang="en-US" sz="1400" dirty="0"/>
          </a:p>
        </p:txBody>
      </p:sp>
      <p:sp>
        <p:nvSpPr>
          <p:cNvPr id="16" name="Shape 14"/>
          <p:cNvSpPr/>
          <p:nvPr/>
        </p:nvSpPr>
        <p:spPr>
          <a:xfrm>
            <a:off x="685800" y="3986784"/>
            <a:ext cx="10771632" cy="1115568"/>
          </a:xfrm>
          <a:prstGeom prst="roundRect">
            <a:avLst/>
          </a:prstGeom>
          <a:solidFill>
            <a:srgbClr val="EEF3F8"/>
          </a:solidFill>
          <a:ln w="12700">
            <a:solidFill>
              <a:srgbClr val="EEF3F8">
                <a:alpha val="0"/>
              </a:srgbClr>
            </a:solidFill>
            <a:prstDash val="solid"/>
          </a:ln>
        </p:spPr>
      </p:sp>
      <p:sp>
        <p:nvSpPr>
          <p:cNvPr id="17" name="Shape 15"/>
          <p:cNvSpPr/>
          <p:nvPr/>
        </p:nvSpPr>
        <p:spPr>
          <a:xfrm>
            <a:off x="685800" y="3986784"/>
            <a:ext cx="77724" cy="1115568"/>
          </a:xfrm>
          <a:prstGeom prst="rect">
            <a:avLst/>
          </a:prstGeom>
          <a:solidFill>
            <a:srgbClr val="C51F36"/>
          </a:solidFill>
          <a:ln w="12700">
            <a:solidFill>
              <a:srgbClr val="C51F36">
                <a:alpha val="0"/>
              </a:srgbClr>
            </a:solidFill>
            <a:prstDash val="solid"/>
          </a:ln>
        </p:spPr>
      </p:sp>
      <p:sp>
        <p:nvSpPr>
          <p:cNvPr id="18" name="Text 16"/>
          <p:cNvSpPr/>
          <p:nvPr/>
        </p:nvSpPr>
        <p:spPr>
          <a:xfrm>
            <a:off x="886968" y="4169664"/>
            <a:ext cx="10424160" cy="301752"/>
          </a:xfrm>
          <a:prstGeom prst="rect">
            <a:avLst/>
          </a:prstGeom>
          <a:noFill/>
          <a:ln/>
        </p:spPr>
        <p:txBody>
          <a:bodyPr wrap="square" lIns="0" tIns="0" rIns="0" bIns="0" rtlCol="0" anchor="ctr">
            <a:normAutofit/>
          </a:bodyPr>
          <a:lstStyle/>
          <a:p>
            <a:pPr indent="0" marL="0">
              <a:buNone/>
            </a:pPr>
            <a:r>
              <a:rPr lang="en-US" sz="1800" b="1" dirty="0">
                <a:solidFill>
                  <a:srgbClr val="C51F36"/>
                </a:solidFill>
                <a:latin typeface="Aptos" pitchFamily="34" charset="0"/>
                <a:ea typeface="Aptos" pitchFamily="34" charset="-122"/>
                <a:cs typeface="Aptos" pitchFamily="34" charset="-120"/>
              </a:rPr>
              <a:t>03  REASONED LIMITATIONS</a:t>
            </a:r>
            <a:endParaRPr lang="en-US" sz="1800" dirty="0"/>
          </a:p>
        </p:txBody>
      </p:sp>
      <p:sp>
        <p:nvSpPr>
          <p:cNvPr id="19" name="Text 17"/>
          <p:cNvSpPr/>
          <p:nvPr/>
        </p:nvSpPr>
        <p:spPr>
          <a:xfrm>
            <a:off x="886968" y="4535424"/>
            <a:ext cx="10378440" cy="402336"/>
          </a:xfrm>
          <a:prstGeom prst="rect">
            <a:avLst/>
          </a:prstGeom>
          <a:noFill/>
          <a:ln/>
        </p:spPr>
        <p:txBody>
          <a:bodyPr wrap="square" lIns="0" tIns="0" rIns="0" bIns="0" rtlCol="0" anchor="t">
            <a:normAutofit/>
          </a:bodyPr>
          <a:lstStyle/>
          <a:p>
            <a:pPr indent="0" marL="0">
              <a:buNone/>
            </a:pPr>
            <a:r>
              <a:rPr lang="en-US" sz="1400" dirty="0">
                <a:solidFill>
                  <a:srgbClr val="192C41"/>
                </a:solidFill>
                <a:latin typeface="Aptos" pitchFamily="34" charset="0"/>
                <a:ea typeface="Aptos" pitchFamily="34" charset="-122"/>
                <a:cs typeface="Aptos" pitchFamily="34" charset="-120"/>
              </a:rPr>
              <a:t>2021 pandemic grants; refinery mix; forecast assumptions; no internal data.</a:t>
            </a:r>
            <a:endParaRPr lang="en-US" sz="1400" dirty="0"/>
          </a:p>
        </p:txBody>
      </p:sp>
      <p:sp>
        <p:nvSpPr>
          <p:cNvPr id="20" name="Text 18"/>
          <p:cNvSpPr/>
          <p:nvPr/>
        </p:nvSpPr>
        <p:spPr>
          <a:xfrm>
            <a:off x="1051560" y="5596128"/>
            <a:ext cx="10058400" cy="347472"/>
          </a:xfrm>
          <a:prstGeom prst="rect">
            <a:avLst/>
          </a:prstGeom>
          <a:noFill/>
          <a:ln/>
        </p:spPr>
        <p:txBody>
          <a:bodyPr wrap="square" lIns="0" tIns="0" rIns="0" bIns="0" rtlCol="0" anchor="ctr">
            <a:normAutofit/>
          </a:bodyPr>
          <a:lstStyle/>
          <a:p>
            <a:pPr algn="ctr" indent="0" marL="0">
              <a:buNone/>
            </a:pPr>
            <a:r>
              <a:rPr lang="en-US" sz="1900" b="1" dirty="0">
                <a:solidFill>
                  <a:srgbClr val="142B46"/>
                </a:solidFill>
                <a:latin typeface="Aptos" pitchFamily="34" charset="0"/>
                <a:ea typeface="Aptos" pitchFamily="34" charset="-122"/>
                <a:cs typeface="Aptos" pitchFamily="34" charset="-120"/>
              </a:rPr>
              <a:t>Thank you. I would be glad to walk through the assumptions and Excel model.</a:t>
            </a:r>
            <a:endParaRPr lang="en-US" sz="1900" dirty="0"/>
          </a:p>
        </p:txBody>
      </p:sp>
      <p:sp>
        <p:nvSpPr>
          <p:cNvPr id="21" name="Text 19"/>
          <p:cNvSpPr/>
          <p:nvPr/>
        </p:nvSpPr>
        <p:spPr>
          <a:xfrm>
            <a:off x="612648" y="6190488"/>
            <a:ext cx="10881360" cy="173736"/>
          </a:xfrm>
          <a:prstGeom prst="rect">
            <a:avLst/>
          </a:prstGeom>
          <a:noFill/>
          <a:ln/>
        </p:spPr>
        <p:txBody>
          <a:bodyPr wrap="square" lIns="0" tIns="0" rIns="0" bIns="0" rtlCol="0" anchor="ctr">
            <a:normAutofit/>
          </a:bodyPr>
          <a:lstStyle/>
          <a:p>
            <a:pPr indent="0" marL="0">
              <a:buNone/>
            </a:pPr>
            <a:r>
              <a:rPr lang="en-US" sz="900" dirty="0">
                <a:solidFill>
                  <a:srgbClr val="52687C"/>
                </a:solidFill>
                <a:latin typeface="Aptos" pitchFamily="34" charset="0"/>
                <a:ea typeface="Aptos" pitchFamily="34" charset="-122"/>
                <a:cs typeface="Aptos" pitchFamily="34" charset="-120"/>
              </a:rPr>
              <a:t>Independent BBA Finance student work  ·  No audit assurance or Delta endorsement</a:t>
            </a:r>
            <a:endParaRPr lang="en-US" sz="9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Independent Undergraduate Analysis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Delta Air Lines | Revenue, Cost &amp; FP&amp;A Forecasting</dc:title>
  <dc:subject>Delta Air Lines source-backed FP&amp;A project</dc:subject>
  <dc:creator>Shahriar Molhem | undergraduate portfolio</dc:creator>
  <cp:lastModifiedBy>Shahriar Molhem | undergraduate portfolio</cp:lastModifiedBy>
  <cp:revision>1</cp:revision>
  <dcterms:created xsi:type="dcterms:W3CDTF">2026-10-19T22:19:37Z</dcterms:created>
  <dcterms:modified xsi:type="dcterms:W3CDTF">2026-10-19T22:19:37Z</dcterms:modified>
</cp:coreProperties>
</file>